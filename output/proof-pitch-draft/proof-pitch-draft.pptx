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1, cover. Suggested timing: 15 seconds.</a:t>
            </a:r>
          </a:p>
          <a:p>
            <a:r>
              <a:t>Proof helps students and professionals check the evidence behind AI-assisted research. Our focus is whether the academic source supports the sentence, with passages users can inspect. This is the first pitch draft, not a claim of exhaustive verification or commercial traction.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2, opening story or example. Suggested timing: 30 seconds.</a:t>
            </a:r>
          </a:p>
          <a:p>
            <a:r>
              <a:t>Imagine asking an AI assistant to explain a study. The answer is fluent and includes a citation, so it looks usable. A student might put it into an essay; an analyst might use it in a client report. But the original passage says 18% faster on a measured task, not twice the productivity. This is a fictional illustration, not my personal experience or an actual study. It introduces the gap between a convincing answer and evidence that supports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3, problem statement. Suggested timing: 30 seconds.</a:t>
            </a:r>
          </a:p>
          <a:p>
            <a:r>
              <a:t>AI-assisted research can contain invented sources, inaccurate reference details, or unsupported interpretations of real papers. Search-enabled tools already find academic work, so the claim is not that AI cannot search. The problem is that discovery, full-text access, and interpretation can fail. Our proposed users include students, researchers, consultants, and analysts whose writing depends on academic evidence. These are target segments, not validated paying customers.</a:t>
            </a:r>
          </a:p>
          <a:p>
            <a:r>
              <a:t>Source: OpenAI deep-research launch documentation describes browsing alongside hallucination and inference limitations. https://openai.com/index/introducing-deep-research/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4, statistics and research. Suggested timing: 35 seconds.</a:t>
            </a:r>
          </a:p>
          <a:p>
            <a:r>
              <a:t>A June 2025 experiment prompted GPT-4o to generate six literature reviews on mental-health topics. The authors verified 176 references. They reported 35 fabricated references and 64 real references with bibliographic errors. The remaining 77 were accurate. We calculate 99 divided by 176, or 56.3%, and round it to 56% on the slide. These are citation errors, not a measured rate of unsupported semantic claims. This is a small, model-specific experiment under straightforward prompting, not a benchmark of all current AI tools. The study validates a failure mode; it does not establish demand or Proof's accuracy.</a:t>
            </a:r>
          </a:p>
          <a:p>
            <a:r>
              <a:t>Source: Linardon et al., JMIR Mental Health, 2025, DOI 10.2196/80371. https://mental.jmir.org/2025/1/e80371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5, turn the problem into a question. Suggested timing: 10 seconds.</a:t>
            </a:r>
          </a:p>
          <a:p>
            <a:r>
              <a:t>How can we check AI-assisted research before we rely on it? The question moves us from the risk to a concrete review workflow. Pause briefly, then reveal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6, showcase the solution. Suggested timing: 25 seconds, followed by a 60-second live demo.</a:t>
            </a:r>
          </a:p>
          <a:p>
            <a:r>
              <a:t>Proof accepts a draft, helps find or add academic papers, and brings evidence alongside findings. Show that users can inspect the original passage and that incomplete evidence stays unverified. The screenshot is an existing local interface reference. The review card below it is illustrative, not a screenshot of a completed audit.</a:t>
            </a:r>
          </a:p>
          <a:p>
            <a:r>
              <a:t>LIVE DEMO, as requested by the template after slide 6:</a:t>
            </a:r>
          </a:p>
          <a:p>
            <a:r>
              <a:t>1. Open the current Proof app and show Check writing, Find sources, and My sources.</a:t>
            </a:r>
          </a:p>
          <a:p>
            <a:r>
              <a:t>2. Use a prepared, publicly accessible research article and a draft with one faithful claim plus one planted overstatement. Do not use private student or client material.</a:t>
            </a:r>
          </a:p>
          <a:p>
            <a:r>
              <a:t>3. Run a check, open a finding, and read the passage with the audience. Show the source-access label and an unverified case when available.</a:t>
            </a:r>
          </a:p>
          <a:p>
            <a:r>
              <a:t>4. Explain that the user decides what to change. Do not promise a correct live result until the demo has been rehearsed.</a:t>
            </a:r>
          </a:p>
          <a:p>
            <a:r>
              <a:t>Current implementation includes source identity and policy checks with limited journal coverage. Full-text retrieval, extraction, and AI judgments can still fail.</a:t>
            </a:r>
          </a:p>
          <a:p>
            <a:r>
              <a:t>Implementation references: README.md, src/Classroom.tsx, server/discovery.ts, server/scholarly.ts, server/judge.ts. Local demo: http://127.0.0.1:4317/app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7, tech stack. Suggested timing: 35 seconds.</a:t>
            </a:r>
          </a:p>
          <a:p>
            <a:r>
              <a:t>The browser uses React, TypeScript, and Vite. The Node.js and Express server parses uploaded documents and runs review jobs. OpenAlex supplies discovery candidates, Crossref resolves article identity and metadata, DOAJ helps confirm journal peer-review policy, and Europe PMC supplies available full-text evidence. Jev through TypeSafe answers typed questions about claims and evidence. Code checks the responses and preserves uncertainty when retrieval, extraction, or judgments fail. Current public-source checks deliberately exclude articles outside the verifiable policy and full-text set. A failed lookup does not prove a source is fabricated. No provider credentials or private inputs are included in the deck.</a:t>
            </a:r>
          </a:p>
          <a:p>
            <a:r>
              <a:t>Implementation references: package.json, server/discovery.ts, server/sources.ts, server/scholarly.ts, server/judge.ts, server/evidence.ts, src/class-store.ts.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slide 8, design system and closing. Suggested timing: 25 seconds.</a:t>
            </a:r>
          </a:p>
          <a:p>
            <a:r>
              <a:t>Proof's current visual system uses Newsreader headings, DM Sans body text, forest green, sage, and paper backgrounds. Evidence passages and uncertainty labels are part of the review experience. Close with the product promise: check the research before you rely on it. Invite students and professional research teams to test the workflow. No customer count, revenue, accuracy guarantee, or paid-pilot claim has been supplied or added.</a:t>
            </a:r>
          </a:p>
          <a:p>
            <a:r>
              <a:t>Design references: src/palette.css, src/landing.css, src/styles.css, public/design-system/app-reference.jpg.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2196/80371"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TextBox 1"/>
          <p:cNvSpPr txBox="1"/>
          <p:nvPr/>
        </p:nvSpPr>
        <p:spPr>
          <a:xfrm>
            <a:off x="609600" y="333375"/>
            <a:ext cx="1428750" cy="437578"/>
          </a:xfrm>
          <a:prstGeom prst="rect">
            <a:avLst/>
          </a:prstGeom>
          <a:noFill/>
          <a:effectLst/>
        </p:spPr>
        <p:txBody>
          <a:bodyPr wrap="none" lIns="0" rIns="0" tIns="0" bIns="0" anchor="t">
            <a:spAutoFit/>
          </a:bodyPr>
          <a:lstStyle/>
          <a:p>
            <a:pPr algn="l">
              <a:lnSpc>
                <a:spcPct val="118000"/>
              </a:lnSpc>
              <a:spcBef>
                <a:spcPts val="0"/>
              </a:spcBef>
              <a:spcAft>
                <a:spcPts val="0"/>
              </a:spcAft>
            </a:pPr>
            <a:r>
              <a:rPr sz="2475" i="0" b="0">
                <a:solidFill>
                  <a:srgbClr val="1D3027"/>
                </a:solidFill>
                <a:latin typeface="Newsreader"/>
              </a:rPr>
              <a:t>proof.</a:t>
            </a:r>
          </a:p>
        </p:txBody>
      </p:sp>
      <p:sp>
        <p:nvSpPr>
          <p:cNvPr id="3" name="TextBox 2"/>
          <p:cNvSpPr txBox="1"/>
          <p:nvPr/>
        </p:nvSpPr>
        <p:spPr>
          <a:xfrm>
            <a:off x="7620000" y="400050"/>
            <a:ext cx="3962399" cy="246507"/>
          </a:xfrm>
          <a:prstGeom prst="rect">
            <a:avLst/>
          </a:prstGeom>
          <a:noFill/>
          <a:effectLst/>
        </p:spPr>
        <p:txBody>
          <a:bodyPr wrap="none" lIns="0" rIns="0" tIns="0" bIns="0" anchor="t">
            <a:spAutoFit/>
          </a:bodyPr>
          <a:lstStyle/>
          <a:p>
            <a:pPr algn="r">
              <a:lnSpc>
                <a:spcPct val="118000"/>
              </a:lnSpc>
              <a:spcBef>
                <a:spcPts val="0"/>
              </a:spcBef>
              <a:spcAft>
                <a:spcPts val="0"/>
              </a:spcAft>
            </a:pPr>
            <a:r>
              <a:rPr sz="1200" i="0" b="0">
                <a:solidFill>
                  <a:srgbClr val="5C6D63"/>
                </a:solidFill>
                <a:latin typeface="DM Sans"/>
              </a:rPr>
              <a:t>Cover</a:t>
            </a:r>
          </a:p>
        </p:txBody>
      </p:sp>
      <p:cxnSp>
        <p:nvCxnSpPr>
          <p:cNvPr id="4" name="Connector 3"/>
          <p:cNvCxnSpPr/>
          <p:nvPr/>
        </p:nvCxnSpPr>
        <p:spPr>
          <a:xfrm>
            <a:off x="609600" y="6343650"/>
            <a:ext cx="10972800" cy="0"/>
          </a:xfrm>
          <a:prstGeom prst="line">
            <a:avLst/>
          </a:prstGeom>
          <a:ln w="9525">
            <a:solidFill>
              <a:srgbClr val="DCE5DF"/>
            </a:solidFill>
          </a:ln>
          <a:effectLst/>
        </p:spPr>
      </p:cxnSp>
      <p:sp>
        <p:nvSpPr>
          <p:cNvPr id="5" name="TextBox 4"/>
          <p:cNvSpPr txBox="1"/>
          <p:nvPr/>
        </p:nvSpPr>
        <p:spPr>
          <a:xfrm>
            <a:off x="609600" y="6477000"/>
            <a:ext cx="6191250" cy="212788"/>
          </a:xfrm>
          <a:prstGeom prst="rect">
            <a:avLst/>
          </a:prstGeom>
          <a:noFill/>
          <a:effectLst/>
        </p:spPr>
        <p:txBody>
          <a:bodyPr wrap="none" lIns="0" rIns="0" tIns="0" bIns="0" anchor="t">
            <a:spAutoFit/>
          </a:bodyPr>
          <a:lstStyle/>
          <a:p>
            <a:pPr algn="l">
              <a:lnSpc>
                <a:spcPct val="118000"/>
              </a:lnSpc>
              <a:spcBef>
                <a:spcPts val="0"/>
              </a:spcBef>
              <a:spcAft>
                <a:spcPts val="0"/>
              </a:spcAft>
            </a:pPr>
            <a:r>
              <a:rPr sz="975" i="0" b="0">
                <a:solidFill>
                  <a:srgbClr val="5C6D63"/>
                </a:solidFill>
                <a:latin typeface="DM Sans"/>
              </a:rPr>
              <a:t>Proof · Hackathon pitch · First draft</a:t>
            </a:r>
          </a:p>
        </p:txBody>
      </p:sp>
      <p:sp>
        <p:nvSpPr>
          <p:cNvPr id="6" name="TextBox 5"/>
          <p:cNvSpPr txBox="1"/>
          <p:nvPr/>
        </p:nvSpPr>
        <p:spPr>
          <a:xfrm>
            <a:off x="10191750" y="6477000"/>
            <a:ext cx="139065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5C6D63"/>
                </a:solidFill>
                <a:latin typeface="DM Sans"/>
              </a:rPr>
              <a:t>01 / 08</a:t>
            </a:r>
          </a:p>
        </p:txBody>
      </p:sp>
      <p:sp>
        <p:nvSpPr>
          <p:cNvPr id="7" name="TextBox 6"/>
          <p:cNvSpPr txBox="1"/>
          <p:nvPr/>
        </p:nvSpPr>
        <p:spPr>
          <a:xfrm>
            <a:off x="609600" y="1381125"/>
            <a:ext cx="7096125" cy="3143250"/>
          </a:xfrm>
          <a:prstGeom prst="rect">
            <a:avLst/>
          </a:prstGeom>
          <a:noFill/>
          <a:effectLst/>
        </p:spPr>
        <p:txBody>
          <a:bodyPr wrap="none" lIns="0" rIns="0" tIns="0" bIns="0" anchor="t">
            <a:spAutoFit/>
          </a:bodyPr>
          <a:lstStyle/>
          <a:p>
            <a:pPr algn="l">
              <a:lnSpc>
                <a:spcPct val="104000"/>
              </a:lnSpc>
              <a:spcBef>
                <a:spcPts val="0"/>
              </a:spcBef>
              <a:spcAft>
                <a:spcPts val="0"/>
              </a:spcAft>
            </a:pPr>
            <a:r>
              <a:rPr sz="6600" i="0" b="0">
                <a:solidFill>
                  <a:srgbClr val="1D3027"/>
                </a:solidFill>
                <a:latin typeface="Newsreader"/>
              </a:rPr>
              <a:t>AI research.</a:t>
            </a:r>
          </a:p>
          <a:p>
            <a:pPr algn="l">
              <a:lnSpc>
                <a:spcPct val="104000"/>
              </a:lnSpc>
              <a:spcBef>
                <a:spcPts val="0"/>
              </a:spcBef>
              <a:spcAft>
                <a:spcPts val="0"/>
              </a:spcAft>
            </a:pPr>
            <a:r>
              <a:rPr sz="6600" i="0" b="0">
                <a:solidFill>
                  <a:srgbClr val="1D3027"/>
                </a:solidFill>
                <a:latin typeface="Newsreader"/>
              </a:rPr>
              <a:t>Evidence you</a:t>
            </a:r>
          </a:p>
          <a:p>
            <a:pPr algn="l">
              <a:lnSpc>
                <a:spcPct val="104000"/>
              </a:lnSpc>
              <a:spcBef>
                <a:spcPts val="0"/>
              </a:spcBef>
              <a:spcAft>
                <a:spcPts val="0"/>
              </a:spcAft>
            </a:pPr>
            <a:r>
              <a:rPr sz="6600" i="0" b="0">
                <a:solidFill>
                  <a:srgbClr val="1D3027"/>
                </a:solidFill>
                <a:latin typeface="Newsreader"/>
              </a:rPr>
              <a:t>can check.</a:t>
            </a:r>
          </a:p>
        </p:txBody>
      </p:sp>
      <p:sp>
        <p:nvSpPr>
          <p:cNvPr id="8" name="TextBox 7"/>
          <p:cNvSpPr txBox="1"/>
          <p:nvPr/>
        </p:nvSpPr>
        <p:spPr>
          <a:xfrm>
            <a:off x="628650" y="4857750"/>
            <a:ext cx="7048500" cy="392620"/>
          </a:xfrm>
          <a:prstGeom prst="rect">
            <a:avLst/>
          </a:prstGeom>
          <a:noFill/>
          <a:effectLst/>
        </p:spPr>
        <p:txBody>
          <a:bodyPr wrap="none" lIns="0" rIns="0" tIns="0" bIns="0" anchor="t">
            <a:spAutoFit/>
          </a:bodyPr>
          <a:lstStyle/>
          <a:p>
            <a:pPr algn="l">
              <a:lnSpc>
                <a:spcPct val="118000"/>
              </a:lnSpc>
              <a:spcBef>
                <a:spcPts val="0"/>
              </a:spcBef>
              <a:spcAft>
                <a:spcPts val="0"/>
              </a:spcAft>
            </a:pPr>
            <a:r>
              <a:rPr sz="2175" i="0" b="0">
                <a:solidFill>
                  <a:srgbClr val="1D3027"/>
                </a:solidFill>
                <a:latin typeface="DM Sans"/>
              </a:rPr>
              <a:t>For students and professionals.</a:t>
            </a:r>
          </a:p>
        </p:txBody>
      </p:sp>
      <p:sp>
        <p:nvSpPr>
          <p:cNvPr id="9" name="TextBox 8"/>
          <p:cNvSpPr txBox="1"/>
          <p:nvPr/>
        </p:nvSpPr>
        <p:spPr>
          <a:xfrm>
            <a:off x="628650" y="5343525"/>
            <a:ext cx="7000875" cy="670179"/>
          </a:xfrm>
          <a:prstGeom prst="rect">
            <a:avLst/>
          </a:prstGeom>
          <a:noFill/>
          <a:effectLst/>
        </p:spPr>
        <p:txBody>
          <a:bodyPr wrap="none" lIns="0" rIns="0" tIns="0" bIns="0" anchor="t">
            <a:spAutoFit/>
          </a:bodyPr>
          <a:lstStyle/>
          <a:p>
            <a:pPr algn="l">
              <a:lnSpc>
                <a:spcPct val="132000"/>
              </a:lnSpc>
              <a:spcBef>
                <a:spcPts val="0"/>
              </a:spcBef>
              <a:spcAft>
                <a:spcPts val="0"/>
              </a:spcAft>
            </a:pPr>
            <a:r>
              <a:rPr sz="1800" i="0" b="0">
                <a:solidFill>
                  <a:srgbClr val="5C6D63"/>
                </a:solidFill>
                <a:latin typeface="DM Sans"/>
              </a:rPr>
              <a:t>Verify the claims in AI-assisted work</a:t>
            </a:r>
          </a:p>
          <a:p>
            <a:pPr algn="l">
              <a:lnSpc>
                <a:spcPct val="132000"/>
              </a:lnSpc>
              <a:spcBef>
                <a:spcPts val="0"/>
              </a:spcBef>
              <a:spcAft>
                <a:spcPts val="0"/>
              </a:spcAft>
            </a:pPr>
            <a:r>
              <a:rPr sz="1800" i="0" b="0">
                <a:solidFill>
                  <a:srgbClr val="5C6D63"/>
                </a:solidFill>
                <a:latin typeface="DM Sans"/>
              </a:rPr>
              <a:t>against the academic evidence.</a:t>
            </a:r>
          </a:p>
        </p:txBody>
      </p:sp>
      <p:pic>
        <p:nvPicPr>
          <p:cNvPr id="10" name="Picture 9" descr="proof-logo.png"/>
          <p:cNvPicPr>
            <a:picLocks noChangeAspect="1"/>
          </p:cNvPicPr>
          <p:nvPr/>
        </p:nvPicPr>
        <p:blipFill>
          <a:blip r:embed="rId2"/>
          <a:stretch>
            <a:fillRect/>
          </a:stretch>
        </p:blipFill>
        <p:spPr>
          <a:xfrm>
            <a:off x="7953374" y="1323975"/>
            <a:ext cx="3028950" cy="3028950"/>
          </a:xfrm>
          <a:prstGeom prst="rect">
            <a:avLst/>
          </a:prstGeom>
        </p:spPr>
      </p:pic>
      <p:sp>
        <p:nvSpPr>
          <p:cNvPr id="11" name="Rounded Rectangle 10"/>
          <p:cNvSpPr/>
          <p:nvPr/>
        </p:nvSpPr>
        <p:spPr>
          <a:xfrm>
            <a:off x="8048625" y="4762500"/>
            <a:ext cx="3114675" cy="866775"/>
          </a:xfrm>
          <a:prstGeom prst="roundRect">
            <a:avLst>
              <a:gd name="adj" fmla="val 17582"/>
            </a:avLst>
          </a:prstGeom>
          <a:solidFill>
            <a:srgbClr val="E7EFE9"/>
          </a:solidFill>
          <a:ln>
            <a:noFill/>
          </a:ln>
          <a:effectLst/>
        </p:spPr>
        <p:txBody>
          <a:bodyPr rtlCol="0" anchor="ctr"/>
          <a:lstStyle/>
          <a:p>
            <a:pPr algn="ctr"/>
          </a:p>
        </p:txBody>
      </p:sp>
      <p:sp>
        <p:nvSpPr>
          <p:cNvPr id="12" name="TextBox 11"/>
          <p:cNvSpPr txBox="1"/>
          <p:nvPr/>
        </p:nvSpPr>
        <p:spPr>
          <a:xfrm>
            <a:off x="8267699" y="5057775"/>
            <a:ext cx="2705100" cy="325183"/>
          </a:xfrm>
          <a:prstGeom prst="rect">
            <a:avLst/>
          </a:prstGeom>
          <a:noFill/>
          <a:effectLst/>
        </p:spPr>
        <p:txBody>
          <a:bodyPr wrap="none" lIns="0" rIns="0" tIns="0" bIns="0" anchor="t">
            <a:spAutoFit/>
          </a:bodyPr>
          <a:lstStyle/>
          <a:p>
            <a:pPr algn="l">
              <a:lnSpc>
                <a:spcPct val="118000"/>
              </a:lnSpc>
              <a:spcBef>
                <a:spcPts val="0"/>
              </a:spcBef>
              <a:spcAft>
                <a:spcPts val="0"/>
              </a:spcAft>
            </a:pPr>
            <a:r>
              <a:rPr sz="1725" i="0" b="0">
                <a:solidFill>
                  <a:srgbClr val="245C48"/>
                </a:solidFill>
                <a:latin typeface="DM Sans"/>
              </a:rPr>
              <a:t>Claim / paper / passage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TextBox 1"/>
          <p:cNvSpPr txBox="1"/>
          <p:nvPr/>
        </p:nvSpPr>
        <p:spPr>
          <a:xfrm>
            <a:off x="609600" y="333375"/>
            <a:ext cx="1428750" cy="437578"/>
          </a:xfrm>
          <a:prstGeom prst="rect">
            <a:avLst/>
          </a:prstGeom>
          <a:noFill/>
          <a:effectLst/>
        </p:spPr>
        <p:txBody>
          <a:bodyPr wrap="none" lIns="0" rIns="0" tIns="0" bIns="0" anchor="t">
            <a:spAutoFit/>
          </a:bodyPr>
          <a:lstStyle/>
          <a:p>
            <a:pPr algn="l">
              <a:lnSpc>
                <a:spcPct val="118000"/>
              </a:lnSpc>
              <a:spcBef>
                <a:spcPts val="0"/>
              </a:spcBef>
              <a:spcAft>
                <a:spcPts val="0"/>
              </a:spcAft>
            </a:pPr>
            <a:r>
              <a:rPr sz="2475" i="0" b="0">
                <a:solidFill>
                  <a:srgbClr val="1D3027"/>
                </a:solidFill>
                <a:latin typeface="Newsreader"/>
              </a:rPr>
              <a:t>proof.</a:t>
            </a:r>
          </a:p>
        </p:txBody>
      </p:sp>
      <p:sp>
        <p:nvSpPr>
          <p:cNvPr id="3" name="TextBox 2"/>
          <p:cNvSpPr txBox="1"/>
          <p:nvPr/>
        </p:nvSpPr>
        <p:spPr>
          <a:xfrm>
            <a:off x="7620000" y="400050"/>
            <a:ext cx="3962399" cy="246507"/>
          </a:xfrm>
          <a:prstGeom prst="rect">
            <a:avLst/>
          </a:prstGeom>
          <a:noFill/>
          <a:effectLst/>
        </p:spPr>
        <p:txBody>
          <a:bodyPr wrap="none" lIns="0" rIns="0" tIns="0" bIns="0" anchor="t">
            <a:spAutoFit/>
          </a:bodyPr>
          <a:lstStyle/>
          <a:p>
            <a:pPr algn="r">
              <a:lnSpc>
                <a:spcPct val="118000"/>
              </a:lnSpc>
              <a:spcBef>
                <a:spcPts val="0"/>
              </a:spcBef>
              <a:spcAft>
                <a:spcPts val="0"/>
              </a:spcAft>
            </a:pPr>
            <a:r>
              <a:rPr sz="1200" i="0" b="0">
                <a:solidFill>
                  <a:srgbClr val="5C6D63"/>
                </a:solidFill>
                <a:latin typeface="DM Sans"/>
              </a:rPr>
              <a:t>Opening scenario</a:t>
            </a:r>
          </a:p>
        </p:txBody>
      </p:sp>
      <p:cxnSp>
        <p:nvCxnSpPr>
          <p:cNvPr id="4" name="Connector 3"/>
          <p:cNvCxnSpPr/>
          <p:nvPr/>
        </p:nvCxnSpPr>
        <p:spPr>
          <a:xfrm>
            <a:off x="609600" y="6343650"/>
            <a:ext cx="10972800" cy="0"/>
          </a:xfrm>
          <a:prstGeom prst="line">
            <a:avLst/>
          </a:prstGeom>
          <a:ln w="9525">
            <a:solidFill>
              <a:srgbClr val="DCE5DF"/>
            </a:solidFill>
          </a:ln>
          <a:effectLst/>
        </p:spPr>
      </p:cxnSp>
      <p:sp>
        <p:nvSpPr>
          <p:cNvPr id="5" name="TextBox 4"/>
          <p:cNvSpPr txBox="1"/>
          <p:nvPr/>
        </p:nvSpPr>
        <p:spPr>
          <a:xfrm>
            <a:off x="609600" y="6477000"/>
            <a:ext cx="6191250" cy="212788"/>
          </a:xfrm>
          <a:prstGeom prst="rect">
            <a:avLst/>
          </a:prstGeom>
          <a:noFill/>
          <a:effectLst/>
        </p:spPr>
        <p:txBody>
          <a:bodyPr wrap="none" lIns="0" rIns="0" tIns="0" bIns="0" anchor="t">
            <a:spAutoFit/>
          </a:bodyPr>
          <a:lstStyle/>
          <a:p>
            <a:pPr algn="l">
              <a:lnSpc>
                <a:spcPct val="118000"/>
              </a:lnSpc>
              <a:spcBef>
                <a:spcPts val="0"/>
              </a:spcBef>
              <a:spcAft>
                <a:spcPts val="0"/>
              </a:spcAft>
            </a:pPr>
            <a:r>
              <a:rPr sz="975" i="0" b="0">
                <a:solidFill>
                  <a:srgbClr val="5C6D63"/>
                </a:solidFill>
                <a:latin typeface="DM Sans"/>
              </a:rPr>
              <a:t>Proof · Hackathon pitch · First draft</a:t>
            </a:r>
          </a:p>
        </p:txBody>
      </p:sp>
      <p:sp>
        <p:nvSpPr>
          <p:cNvPr id="6" name="TextBox 5"/>
          <p:cNvSpPr txBox="1"/>
          <p:nvPr/>
        </p:nvSpPr>
        <p:spPr>
          <a:xfrm>
            <a:off x="10191750" y="6477000"/>
            <a:ext cx="139065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5C6D63"/>
                </a:solidFill>
                <a:latin typeface="DM Sans"/>
              </a:rPr>
              <a:t>02 / 08</a:t>
            </a:r>
          </a:p>
        </p:txBody>
      </p:sp>
      <p:sp>
        <p:nvSpPr>
          <p:cNvPr id="7" name="TextBox 6"/>
          <p:cNvSpPr txBox="1"/>
          <p:nvPr/>
        </p:nvSpPr>
        <p:spPr>
          <a:xfrm>
            <a:off x="609600" y="1076325"/>
            <a:ext cx="10668000" cy="797242"/>
          </a:xfrm>
          <a:prstGeom prst="rect">
            <a:avLst/>
          </a:prstGeom>
          <a:noFill/>
          <a:effectLst/>
        </p:spPr>
        <p:txBody>
          <a:bodyPr wrap="none" lIns="0" rIns="0" tIns="0" bIns="0" anchor="t">
            <a:spAutoFit/>
          </a:bodyPr>
          <a:lstStyle/>
          <a:p>
            <a:pPr algn="l">
              <a:lnSpc>
                <a:spcPct val="118000"/>
              </a:lnSpc>
              <a:spcBef>
                <a:spcPts val="0"/>
              </a:spcBef>
              <a:spcAft>
                <a:spcPts val="0"/>
              </a:spcAft>
            </a:pPr>
            <a:r>
              <a:rPr sz="4875" i="0" b="0">
                <a:solidFill>
                  <a:srgbClr val="1D3027"/>
                </a:solidFill>
                <a:latin typeface="Newsreader"/>
              </a:rPr>
              <a:t>The answer sounded right.</a:t>
            </a:r>
          </a:p>
        </p:txBody>
      </p:sp>
      <p:sp>
        <p:nvSpPr>
          <p:cNvPr id="8" name="Rounded Rectangle 7"/>
          <p:cNvSpPr/>
          <p:nvPr/>
        </p:nvSpPr>
        <p:spPr>
          <a:xfrm>
            <a:off x="609600" y="2076450"/>
            <a:ext cx="5305425" cy="2771775"/>
          </a:xfrm>
          <a:prstGeom prst="roundRect">
            <a:avLst>
              <a:gd name="adj" fmla="val 5498"/>
            </a:avLst>
          </a:prstGeom>
          <a:solidFill>
            <a:srgbClr val="FFFFFF"/>
          </a:solidFill>
          <a:ln w="9525">
            <a:solidFill>
              <a:srgbClr val="DCE5DF"/>
            </a:solidFill>
          </a:ln>
          <a:effectLst/>
        </p:spPr>
        <p:txBody>
          <a:bodyPr rtlCol="0" anchor="ctr"/>
          <a:lstStyle/>
          <a:p>
            <a:pPr algn="ctr"/>
          </a:p>
        </p:txBody>
      </p:sp>
      <p:sp>
        <p:nvSpPr>
          <p:cNvPr id="9" name="Rounded Rectangle 8"/>
          <p:cNvSpPr/>
          <p:nvPr/>
        </p:nvSpPr>
        <p:spPr>
          <a:xfrm>
            <a:off x="6276975" y="2076450"/>
            <a:ext cx="5305425" cy="2771775"/>
          </a:xfrm>
          <a:prstGeom prst="roundRect">
            <a:avLst>
              <a:gd name="adj" fmla="val 5498"/>
            </a:avLst>
          </a:prstGeom>
          <a:solidFill>
            <a:srgbClr val="E7EFE9"/>
          </a:solidFill>
          <a:ln>
            <a:noFill/>
          </a:ln>
          <a:effectLst/>
        </p:spPr>
        <p:txBody>
          <a:bodyPr rtlCol="0" anchor="ctr"/>
          <a:lstStyle/>
          <a:p>
            <a:pPr algn="ctr"/>
          </a:p>
        </p:txBody>
      </p:sp>
      <p:sp>
        <p:nvSpPr>
          <p:cNvPr id="10" name="TextBox 9"/>
          <p:cNvSpPr txBox="1"/>
          <p:nvPr/>
        </p:nvSpPr>
        <p:spPr>
          <a:xfrm>
            <a:off x="876300" y="2333625"/>
            <a:ext cx="4762500" cy="291465"/>
          </a:xfrm>
          <a:prstGeom prst="rect">
            <a:avLst/>
          </a:prstGeom>
          <a:noFill/>
          <a:effectLst/>
        </p:spPr>
        <p:txBody>
          <a:bodyPr wrap="none" lIns="0" rIns="0" tIns="0" bIns="0" anchor="t">
            <a:spAutoFit/>
          </a:bodyPr>
          <a:lstStyle/>
          <a:p>
            <a:pPr algn="l">
              <a:lnSpc>
                <a:spcPct val="118000"/>
              </a:lnSpc>
              <a:spcBef>
                <a:spcPts val="0"/>
              </a:spcBef>
              <a:spcAft>
                <a:spcPts val="0"/>
              </a:spcAft>
            </a:pPr>
            <a:r>
              <a:rPr sz="1500" i="0" b="0">
                <a:solidFill>
                  <a:srgbClr val="5C6D63"/>
                </a:solidFill>
                <a:latin typeface="DM Sans"/>
              </a:rPr>
              <a:t>An AI-assisted draft</a:t>
            </a:r>
          </a:p>
        </p:txBody>
      </p:sp>
      <p:sp>
        <p:nvSpPr>
          <p:cNvPr id="11" name="TextBox 10"/>
          <p:cNvSpPr txBox="1"/>
          <p:nvPr/>
        </p:nvSpPr>
        <p:spPr>
          <a:xfrm>
            <a:off x="876300" y="2819400"/>
            <a:ext cx="4762500" cy="889634"/>
          </a:xfrm>
          <a:prstGeom prst="rect">
            <a:avLst/>
          </a:prstGeom>
          <a:noFill/>
          <a:effectLst/>
        </p:spPr>
        <p:txBody>
          <a:bodyPr wrap="none" lIns="0" rIns="0" tIns="0" bIns="0" anchor="t">
            <a:spAutoFit/>
          </a:bodyPr>
          <a:lstStyle/>
          <a:p>
            <a:pPr algn="l">
              <a:lnSpc>
                <a:spcPct val="120000"/>
              </a:lnSpc>
              <a:spcBef>
                <a:spcPts val="0"/>
              </a:spcBef>
              <a:spcAft>
                <a:spcPts val="0"/>
              </a:spcAft>
            </a:pPr>
            <a:r>
              <a:rPr sz="2700" i="0" b="0">
                <a:solidFill>
                  <a:srgbClr val="1D3027"/>
                </a:solidFill>
                <a:latin typeface="Newsreader"/>
              </a:rPr>
              <a:t>"The intervention</a:t>
            </a:r>
          </a:p>
          <a:p>
            <a:pPr algn="l">
              <a:lnSpc>
                <a:spcPct val="120000"/>
              </a:lnSpc>
              <a:spcBef>
                <a:spcPts val="0"/>
              </a:spcBef>
              <a:spcAft>
                <a:spcPts val="0"/>
              </a:spcAft>
            </a:pPr>
            <a:r>
              <a:rPr sz="2700" i="0" b="0">
                <a:solidFill>
                  <a:srgbClr val="1D3027"/>
                </a:solidFill>
                <a:latin typeface="Newsreader"/>
              </a:rPr>
              <a:t>doubled productivity."</a:t>
            </a:r>
          </a:p>
        </p:txBody>
      </p:sp>
      <p:sp>
        <p:nvSpPr>
          <p:cNvPr id="12" name="TextBox 11"/>
          <p:cNvSpPr txBox="1"/>
          <p:nvPr/>
        </p:nvSpPr>
        <p:spPr>
          <a:xfrm>
            <a:off x="876300" y="3895725"/>
            <a:ext cx="2619375" cy="718566"/>
          </a:xfrm>
          <a:prstGeom prst="rect">
            <a:avLst/>
          </a:prstGeom>
          <a:noFill/>
          <a:effectLst/>
        </p:spPr>
        <p:txBody>
          <a:bodyPr wrap="none" lIns="0" rIns="0" tIns="0" bIns="0" anchor="t">
            <a:spAutoFit/>
          </a:bodyPr>
          <a:lstStyle/>
          <a:p>
            <a:pPr algn="l">
              <a:lnSpc>
                <a:spcPct val="118000"/>
              </a:lnSpc>
              <a:spcBef>
                <a:spcPts val="0"/>
              </a:spcBef>
              <a:spcAft>
                <a:spcPts val="0"/>
              </a:spcAft>
            </a:pPr>
            <a:r>
              <a:rPr sz="4350" i="0" b="0">
                <a:solidFill>
                  <a:srgbClr val="996A3E"/>
                </a:solidFill>
                <a:latin typeface="Newsreader"/>
              </a:rPr>
              <a:t>2x</a:t>
            </a:r>
          </a:p>
        </p:txBody>
      </p:sp>
      <p:sp>
        <p:nvSpPr>
          <p:cNvPr id="13" name="TextBox 12"/>
          <p:cNvSpPr txBox="1"/>
          <p:nvPr/>
        </p:nvSpPr>
        <p:spPr>
          <a:xfrm>
            <a:off x="6553200" y="2333625"/>
            <a:ext cx="4752975" cy="291465"/>
          </a:xfrm>
          <a:prstGeom prst="rect">
            <a:avLst/>
          </a:prstGeom>
          <a:noFill/>
          <a:effectLst/>
        </p:spPr>
        <p:txBody>
          <a:bodyPr wrap="none" lIns="0" rIns="0" tIns="0" bIns="0" anchor="t">
            <a:spAutoFit/>
          </a:bodyPr>
          <a:lstStyle/>
          <a:p>
            <a:pPr algn="l">
              <a:lnSpc>
                <a:spcPct val="118000"/>
              </a:lnSpc>
              <a:spcBef>
                <a:spcPts val="0"/>
              </a:spcBef>
              <a:spcAft>
                <a:spcPts val="0"/>
              </a:spcAft>
            </a:pPr>
            <a:r>
              <a:rPr sz="1500" i="0" b="0">
                <a:solidFill>
                  <a:srgbClr val="245C48"/>
                </a:solidFill>
                <a:latin typeface="DM Sans"/>
              </a:rPr>
              <a:t>The academic passage</a:t>
            </a:r>
          </a:p>
        </p:txBody>
      </p:sp>
      <p:sp>
        <p:nvSpPr>
          <p:cNvPr id="14" name="TextBox 13"/>
          <p:cNvSpPr txBox="1"/>
          <p:nvPr/>
        </p:nvSpPr>
        <p:spPr>
          <a:xfrm>
            <a:off x="6553200" y="2819400"/>
            <a:ext cx="4752975" cy="889634"/>
          </a:xfrm>
          <a:prstGeom prst="rect">
            <a:avLst/>
          </a:prstGeom>
          <a:noFill/>
          <a:effectLst/>
        </p:spPr>
        <p:txBody>
          <a:bodyPr wrap="none" lIns="0" rIns="0" tIns="0" bIns="0" anchor="t">
            <a:spAutoFit/>
          </a:bodyPr>
          <a:lstStyle/>
          <a:p>
            <a:pPr algn="l">
              <a:lnSpc>
                <a:spcPct val="120000"/>
              </a:lnSpc>
              <a:spcBef>
                <a:spcPts val="0"/>
              </a:spcBef>
              <a:spcAft>
                <a:spcPts val="0"/>
              </a:spcAft>
            </a:pPr>
            <a:r>
              <a:rPr sz="2700" i="0" b="0">
                <a:solidFill>
                  <a:srgbClr val="1D3027"/>
                </a:solidFill>
                <a:latin typeface="Newsreader"/>
              </a:rPr>
              <a:t>"Tasks were completed</a:t>
            </a:r>
          </a:p>
          <a:p>
            <a:pPr algn="l">
              <a:lnSpc>
                <a:spcPct val="120000"/>
              </a:lnSpc>
              <a:spcBef>
                <a:spcPts val="0"/>
              </a:spcBef>
              <a:spcAft>
                <a:spcPts val="0"/>
              </a:spcAft>
            </a:pPr>
            <a:r>
              <a:rPr sz="2700" i="0" b="0">
                <a:solidFill>
                  <a:srgbClr val="1D3027"/>
                </a:solidFill>
                <a:latin typeface="Newsreader"/>
              </a:rPr>
              <a:t>18% faster, on average."</a:t>
            </a:r>
          </a:p>
        </p:txBody>
      </p:sp>
      <p:sp>
        <p:nvSpPr>
          <p:cNvPr id="15" name="TextBox 14"/>
          <p:cNvSpPr txBox="1"/>
          <p:nvPr/>
        </p:nvSpPr>
        <p:spPr>
          <a:xfrm>
            <a:off x="6553200" y="3895725"/>
            <a:ext cx="2571750" cy="718566"/>
          </a:xfrm>
          <a:prstGeom prst="rect">
            <a:avLst/>
          </a:prstGeom>
          <a:noFill/>
          <a:effectLst/>
        </p:spPr>
        <p:txBody>
          <a:bodyPr wrap="none" lIns="0" rIns="0" tIns="0" bIns="0" anchor="t">
            <a:spAutoFit/>
          </a:bodyPr>
          <a:lstStyle/>
          <a:p>
            <a:pPr algn="l">
              <a:lnSpc>
                <a:spcPct val="118000"/>
              </a:lnSpc>
              <a:spcBef>
                <a:spcPts val="0"/>
              </a:spcBef>
              <a:spcAft>
                <a:spcPts val="0"/>
              </a:spcAft>
            </a:pPr>
            <a:r>
              <a:rPr sz="4350" i="0" b="0">
                <a:solidFill>
                  <a:srgbClr val="245C48"/>
                </a:solidFill>
                <a:latin typeface="Newsreader"/>
              </a:rPr>
              <a:t>18%</a:t>
            </a:r>
          </a:p>
        </p:txBody>
      </p:sp>
      <p:sp>
        <p:nvSpPr>
          <p:cNvPr id="16" name="TextBox 15"/>
          <p:cNvSpPr txBox="1"/>
          <p:nvPr/>
        </p:nvSpPr>
        <p:spPr>
          <a:xfrm>
            <a:off x="619125" y="5200650"/>
            <a:ext cx="10096500" cy="852487"/>
          </a:xfrm>
          <a:prstGeom prst="rect">
            <a:avLst/>
          </a:prstGeom>
          <a:noFill/>
          <a:effectLst/>
        </p:spPr>
        <p:txBody>
          <a:bodyPr wrap="none" lIns="0" rIns="0" tIns="0" bIns="0" anchor="t">
            <a:spAutoFit/>
          </a:bodyPr>
          <a:lstStyle/>
          <a:p>
            <a:pPr algn="l">
              <a:lnSpc>
                <a:spcPct val="125000"/>
              </a:lnSpc>
              <a:spcBef>
                <a:spcPts val="0"/>
              </a:spcBef>
              <a:spcAft>
                <a:spcPts val="0"/>
              </a:spcAft>
            </a:pPr>
            <a:r>
              <a:rPr sz="2475" i="0" b="0">
                <a:solidFill>
                  <a:srgbClr val="1D3027"/>
                </a:solidFill>
                <a:latin typeface="Newsreader"/>
              </a:rPr>
              <a:t>An assignment. A client report.</a:t>
            </a:r>
          </a:p>
          <a:p>
            <a:pPr algn="l">
              <a:lnSpc>
                <a:spcPct val="125000"/>
              </a:lnSpc>
              <a:spcBef>
                <a:spcPts val="0"/>
              </a:spcBef>
              <a:spcAft>
                <a:spcPts val="0"/>
              </a:spcAft>
            </a:pPr>
            <a:r>
              <a:rPr sz="2475" i="0" b="0">
                <a:solidFill>
                  <a:srgbClr val="1D3027"/>
                </a:solidFill>
                <a:latin typeface="Newsreader"/>
              </a:rPr>
              <a:t>The same unchecked claim.</a:t>
            </a:r>
          </a:p>
        </p:txBody>
      </p:sp>
      <p:sp>
        <p:nvSpPr>
          <p:cNvPr id="17" name="TextBox 16"/>
          <p:cNvSpPr txBox="1"/>
          <p:nvPr/>
        </p:nvSpPr>
        <p:spPr>
          <a:xfrm>
            <a:off x="609600" y="6096000"/>
            <a:ext cx="10972800" cy="224028"/>
          </a:xfrm>
          <a:prstGeom prst="rect">
            <a:avLst/>
          </a:prstGeom>
          <a:noFill/>
          <a:effectLst/>
        </p:spPr>
        <p:txBody>
          <a:bodyPr wrap="none" lIns="0" rIns="0" tIns="0" bIns="0" anchor="t">
            <a:spAutoFit/>
          </a:bodyPr>
          <a:lstStyle/>
          <a:p>
            <a:pPr algn="l">
              <a:lnSpc>
                <a:spcPct val="118000"/>
              </a:lnSpc>
              <a:spcBef>
                <a:spcPts val="0"/>
              </a:spcBef>
              <a:spcAft>
                <a:spcPts val="0"/>
              </a:spcAft>
            </a:pPr>
            <a:r>
              <a:rPr sz="1050" i="0" b="0">
                <a:solidFill>
                  <a:srgbClr val="5C6D63"/>
                </a:solidFill>
                <a:latin typeface="DM Sans"/>
              </a:rPr>
              <a:t>Illustrative scenario. The quoted study and draft are fictional.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TextBox 1"/>
          <p:cNvSpPr txBox="1"/>
          <p:nvPr/>
        </p:nvSpPr>
        <p:spPr>
          <a:xfrm>
            <a:off x="609600" y="333375"/>
            <a:ext cx="1428750" cy="437578"/>
          </a:xfrm>
          <a:prstGeom prst="rect">
            <a:avLst/>
          </a:prstGeom>
          <a:noFill/>
          <a:effectLst/>
        </p:spPr>
        <p:txBody>
          <a:bodyPr wrap="none" lIns="0" rIns="0" tIns="0" bIns="0" anchor="t">
            <a:spAutoFit/>
          </a:bodyPr>
          <a:lstStyle/>
          <a:p>
            <a:pPr algn="l">
              <a:lnSpc>
                <a:spcPct val="118000"/>
              </a:lnSpc>
              <a:spcBef>
                <a:spcPts val="0"/>
              </a:spcBef>
              <a:spcAft>
                <a:spcPts val="0"/>
              </a:spcAft>
            </a:pPr>
            <a:r>
              <a:rPr sz="2475" i="0" b="0">
                <a:solidFill>
                  <a:srgbClr val="1D3027"/>
                </a:solidFill>
                <a:latin typeface="Newsreader"/>
              </a:rPr>
              <a:t>proof.</a:t>
            </a:r>
          </a:p>
        </p:txBody>
      </p:sp>
      <p:sp>
        <p:nvSpPr>
          <p:cNvPr id="3" name="TextBox 2"/>
          <p:cNvSpPr txBox="1"/>
          <p:nvPr/>
        </p:nvSpPr>
        <p:spPr>
          <a:xfrm>
            <a:off x="7620000" y="400050"/>
            <a:ext cx="3962399" cy="246507"/>
          </a:xfrm>
          <a:prstGeom prst="rect">
            <a:avLst/>
          </a:prstGeom>
          <a:noFill/>
          <a:effectLst/>
        </p:spPr>
        <p:txBody>
          <a:bodyPr wrap="none" lIns="0" rIns="0" tIns="0" bIns="0" anchor="t">
            <a:spAutoFit/>
          </a:bodyPr>
          <a:lstStyle/>
          <a:p>
            <a:pPr algn="r">
              <a:lnSpc>
                <a:spcPct val="118000"/>
              </a:lnSpc>
              <a:spcBef>
                <a:spcPts val="0"/>
              </a:spcBef>
              <a:spcAft>
                <a:spcPts val="0"/>
              </a:spcAft>
            </a:pPr>
            <a:r>
              <a:rPr sz="1200" i="0" b="0">
                <a:solidFill>
                  <a:srgbClr val="5C6D63"/>
                </a:solidFill>
                <a:latin typeface="DM Sans"/>
              </a:rPr>
              <a:t>Problem and audience</a:t>
            </a:r>
          </a:p>
        </p:txBody>
      </p:sp>
      <p:cxnSp>
        <p:nvCxnSpPr>
          <p:cNvPr id="4" name="Connector 3"/>
          <p:cNvCxnSpPr/>
          <p:nvPr/>
        </p:nvCxnSpPr>
        <p:spPr>
          <a:xfrm>
            <a:off x="609600" y="6343650"/>
            <a:ext cx="10972800" cy="0"/>
          </a:xfrm>
          <a:prstGeom prst="line">
            <a:avLst/>
          </a:prstGeom>
          <a:ln w="9525">
            <a:solidFill>
              <a:srgbClr val="DCE5DF"/>
            </a:solidFill>
          </a:ln>
          <a:effectLst/>
        </p:spPr>
      </p:cxnSp>
      <p:sp>
        <p:nvSpPr>
          <p:cNvPr id="5" name="TextBox 4"/>
          <p:cNvSpPr txBox="1"/>
          <p:nvPr/>
        </p:nvSpPr>
        <p:spPr>
          <a:xfrm>
            <a:off x="609600" y="6477000"/>
            <a:ext cx="6191250" cy="212788"/>
          </a:xfrm>
          <a:prstGeom prst="rect">
            <a:avLst/>
          </a:prstGeom>
          <a:noFill/>
          <a:effectLst/>
        </p:spPr>
        <p:txBody>
          <a:bodyPr wrap="none" lIns="0" rIns="0" tIns="0" bIns="0" anchor="t">
            <a:spAutoFit/>
          </a:bodyPr>
          <a:lstStyle/>
          <a:p>
            <a:pPr algn="l">
              <a:lnSpc>
                <a:spcPct val="118000"/>
              </a:lnSpc>
              <a:spcBef>
                <a:spcPts val="0"/>
              </a:spcBef>
              <a:spcAft>
                <a:spcPts val="0"/>
              </a:spcAft>
            </a:pPr>
            <a:r>
              <a:rPr sz="975" i="0" b="0">
                <a:solidFill>
                  <a:srgbClr val="5C6D63"/>
                </a:solidFill>
                <a:latin typeface="DM Sans"/>
              </a:rPr>
              <a:t>Proof · Hackathon pitch · First draft</a:t>
            </a:r>
          </a:p>
        </p:txBody>
      </p:sp>
      <p:sp>
        <p:nvSpPr>
          <p:cNvPr id="6" name="TextBox 5"/>
          <p:cNvSpPr txBox="1"/>
          <p:nvPr/>
        </p:nvSpPr>
        <p:spPr>
          <a:xfrm>
            <a:off x="10191750" y="6477000"/>
            <a:ext cx="139065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5C6D63"/>
                </a:solidFill>
                <a:latin typeface="DM Sans"/>
              </a:rPr>
              <a:t>03 / 08</a:t>
            </a:r>
          </a:p>
        </p:txBody>
      </p:sp>
      <p:sp>
        <p:nvSpPr>
          <p:cNvPr id="7" name="TextBox 6"/>
          <p:cNvSpPr txBox="1"/>
          <p:nvPr/>
        </p:nvSpPr>
        <p:spPr>
          <a:xfrm>
            <a:off x="609600" y="1076325"/>
            <a:ext cx="10972800" cy="1346835"/>
          </a:xfrm>
          <a:prstGeom prst="rect">
            <a:avLst/>
          </a:prstGeom>
          <a:noFill/>
          <a:effectLst/>
        </p:spPr>
        <p:txBody>
          <a:bodyPr wrap="none" lIns="0" rIns="0" tIns="0" bIns="0" anchor="t">
            <a:spAutoFit/>
          </a:bodyPr>
          <a:lstStyle/>
          <a:p>
            <a:pPr algn="l">
              <a:lnSpc>
                <a:spcPct val="105000"/>
              </a:lnSpc>
              <a:spcBef>
                <a:spcPts val="0"/>
              </a:spcBef>
              <a:spcAft>
                <a:spcPts val="0"/>
              </a:spcAft>
            </a:pPr>
            <a:r>
              <a:rPr sz="4800" i="0" b="0">
                <a:solidFill>
                  <a:srgbClr val="1D3027"/>
                </a:solidFill>
                <a:latin typeface="Newsreader"/>
              </a:rPr>
              <a:t>AI output can look credible.</a:t>
            </a:r>
          </a:p>
          <a:p>
            <a:pPr algn="l">
              <a:lnSpc>
                <a:spcPct val="105000"/>
              </a:lnSpc>
              <a:spcBef>
                <a:spcPts val="0"/>
              </a:spcBef>
              <a:spcAft>
                <a:spcPts val="0"/>
              </a:spcAft>
            </a:pPr>
            <a:r>
              <a:rPr sz="4800" i="0" b="0">
                <a:solidFill>
                  <a:srgbClr val="1D3027"/>
                </a:solidFill>
                <a:latin typeface="Newsreader"/>
              </a:rPr>
              <a:t>The evidence may not be.</a:t>
            </a:r>
          </a:p>
        </p:txBody>
      </p:sp>
      <p:cxnSp>
        <p:nvCxnSpPr>
          <p:cNvPr id="8" name="Connector 7"/>
          <p:cNvCxnSpPr/>
          <p:nvPr/>
        </p:nvCxnSpPr>
        <p:spPr>
          <a:xfrm>
            <a:off x="6096000" y="2771775"/>
            <a:ext cx="0" cy="1704975"/>
          </a:xfrm>
          <a:prstGeom prst="line">
            <a:avLst/>
          </a:prstGeom>
          <a:ln w="19050">
            <a:solidFill>
              <a:srgbClr val="DCE5DF"/>
            </a:solidFill>
          </a:ln>
          <a:effectLst/>
        </p:spPr>
      </p:cxnSp>
      <p:sp>
        <p:nvSpPr>
          <p:cNvPr id="9" name="TextBox 8"/>
          <p:cNvSpPr txBox="1"/>
          <p:nvPr/>
        </p:nvSpPr>
        <p:spPr>
          <a:xfrm>
            <a:off x="609600" y="2838450"/>
            <a:ext cx="5153025" cy="381381"/>
          </a:xfrm>
          <a:prstGeom prst="rect">
            <a:avLst/>
          </a:prstGeom>
          <a:noFill/>
          <a:effectLst/>
        </p:spPr>
        <p:txBody>
          <a:bodyPr wrap="none" lIns="0" rIns="0" tIns="0" bIns="0" anchor="t">
            <a:spAutoFit/>
          </a:bodyPr>
          <a:lstStyle/>
          <a:p>
            <a:pPr algn="l">
              <a:lnSpc>
                <a:spcPct val="118000"/>
              </a:lnSpc>
              <a:spcBef>
                <a:spcPts val="0"/>
              </a:spcBef>
              <a:spcAft>
                <a:spcPts val="0"/>
              </a:spcAft>
            </a:pPr>
            <a:r>
              <a:rPr sz="2100" i="0" b="0">
                <a:solidFill>
                  <a:srgbClr val="1D3027"/>
                </a:solidFill>
                <a:latin typeface="DM Sans"/>
              </a:rPr>
              <a:t>Academic access is incomplete.</a:t>
            </a:r>
          </a:p>
        </p:txBody>
      </p:sp>
      <p:sp>
        <p:nvSpPr>
          <p:cNvPr id="10" name="TextBox 9"/>
          <p:cNvSpPr txBox="1"/>
          <p:nvPr/>
        </p:nvSpPr>
        <p:spPr>
          <a:xfrm>
            <a:off x="609600" y="3400425"/>
            <a:ext cx="5153025" cy="761047"/>
          </a:xfrm>
          <a:prstGeom prst="rect">
            <a:avLst/>
          </a:prstGeom>
          <a:noFill/>
          <a:effectLst/>
        </p:spPr>
        <p:txBody>
          <a:bodyPr wrap="none" lIns="0" rIns="0" tIns="0" bIns="0" anchor="t">
            <a:spAutoFit/>
          </a:bodyPr>
          <a:lstStyle/>
          <a:p>
            <a:pPr algn="l">
              <a:lnSpc>
                <a:spcPct val="135000"/>
              </a:lnSpc>
              <a:spcBef>
                <a:spcPts val="0"/>
              </a:spcBef>
              <a:spcAft>
                <a:spcPts val="0"/>
              </a:spcAft>
            </a:pPr>
            <a:r>
              <a:rPr sz="2025" i="0" b="0">
                <a:solidFill>
                  <a:srgbClr val="5C6D63"/>
                </a:solidFill>
                <a:latin typeface="DM Sans"/>
              </a:rPr>
              <a:t>Relevant papers can be missed.</a:t>
            </a:r>
          </a:p>
          <a:p>
            <a:pPr algn="l">
              <a:lnSpc>
                <a:spcPct val="135000"/>
              </a:lnSpc>
              <a:spcBef>
                <a:spcPts val="0"/>
              </a:spcBef>
              <a:spcAft>
                <a:spcPts val="0"/>
              </a:spcAft>
            </a:pPr>
            <a:r>
              <a:rPr sz="2025" i="0" b="0">
                <a:solidFill>
                  <a:srgbClr val="5C6D63"/>
                </a:solidFill>
                <a:latin typeface="DM Sans"/>
              </a:rPr>
              <a:t>Full text may be unavailable.</a:t>
            </a:r>
          </a:p>
        </p:txBody>
      </p:sp>
      <p:sp>
        <p:nvSpPr>
          <p:cNvPr id="11" name="TextBox 10"/>
          <p:cNvSpPr txBox="1"/>
          <p:nvPr/>
        </p:nvSpPr>
        <p:spPr>
          <a:xfrm>
            <a:off x="6543675" y="2838450"/>
            <a:ext cx="5038725" cy="381381"/>
          </a:xfrm>
          <a:prstGeom prst="rect">
            <a:avLst/>
          </a:prstGeom>
          <a:noFill/>
          <a:effectLst/>
        </p:spPr>
        <p:txBody>
          <a:bodyPr wrap="none" lIns="0" rIns="0" tIns="0" bIns="0" anchor="t">
            <a:spAutoFit/>
          </a:bodyPr>
          <a:lstStyle/>
          <a:p>
            <a:pPr algn="l">
              <a:lnSpc>
                <a:spcPct val="118000"/>
              </a:lnSpc>
              <a:spcBef>
                <a:spcPts val="0"/>
              </a:spcBef>
              <a:spcAft>
                <a:spcPts val="0"/>
              </a:spcAft>
            </a:pPr>
            <a:r>
              <a:rPr sz="2100" i="0" b="0">
                <a:solidFill>
                  <a:srgbClr val="1D3027"/>
                </a:solidFill>
                <a:latin typeface="DM Sans"/>
              </a:rPr>
              <a:t>Hallucinations survive formatting.</a:t>
            </a:r>
          </a:p>
        </p:txBody>
      </p:sp>
      <p:sp>
        <p:nvSpPr>
          <p:cNvPr id="12" name="TextBox 11"/>
          <p:cNvSpPr txBox="1"/>
          <p:nvPr/>
        </p:nvSpPr>
        <p:spPr>
          <a:xfrm>
            <a:off x="6543675" y="3400425"/>
            <a:ext cx="5038725" cy="761047"/>
          </a:xfrm>
          <a:prstGeom prst="rect">
            <a:avLst/>
          </a:prstGeom>
          <a:noFill/>
          <a:effectLst/>
        </p:spPr>
        <p:txBody>
          <a:bodyPr wrap="none" lIns="0" rIns="0" tIns="0" bIns="0" anchor="t">
            <a:spAutoFit/>
          </a:bodyPr>
          <a:lstStyle/>
          <a:p>
            <a:pPr algn="l">
              <a:lnSpc>
                <a:spcPct val="135000"/>
              </a:lnSpc>
              <a:spcBef>
                <a:spcPts val="0"/>
              </a:spcBef>
              <a:spcAft>
                <a:spcPts val="0"/>
              </a:spcAft>
            </a:pPr>
            <a:r>
              <a:rPr sz="2025" i="0" b="0">
                <a:solidFill>
                  <a:srgbClr val="5C6D63"/>
                </a:solidFill>
                <a:latin typeface="DM Sans"/>
              </a:rPr>
              <a:t>References can be invented.</a:t>
            </a:r>
          </a:p>
          <a:p>
            <a:pPr algn="l">
              <a:lnSpc>
                <a:spcPct val="135000"/>
              </a:lnSpc>
              <a:spcBef>
                <a:spcPts val="0"/>
              </a:spcBef>
              <a:spcAft>
                <a:spcPts val="0"/>
              </a:spcAft>
            </a:pPr>
            <a:r>
              <a:rPr sz="2025" i="0" b="0">
                <a:solidFill>
                  <a:srgbClr val="5C6D63"/>
                </a:solidFill>
                <a:latin typeface="DM Sans"/>
              </a:rPr>
              <a:t>Real papers can be misrepresented.</a:t>
            </a:r>
          </a:p>
        </p:txBody>
      </p:sp>
      <p:sp>
        <p:nvSpPr>
          <p:cNvPr id="13" name="Rounded Rectangle 12"/>
          <p:cNvSpPr/>
          <p:nvPr/>
        </p:nvSpPr>
        <p:spPr>
          <a:xfrm>
            <a:off x="609600" y="4867275"/>
            <a:ext cx="10972800" cy="1104900"/>
          </a:xfrm>
          <a:prstGeom prst="roundRect">
            <a:avLst>
              <a:gd name="adj" fmla="val 13793"/>
            </a:avLst>
          </a:prstGeom>
          <a:solidFill>
            <a:srgbClr val="E7EFE9"/>
          </a:solidFill>
          <a:ln>
            <a:noFill/>
          </a:ln>
          <a:effectLst/>
        </p:spPr>
        <p:txBody>
          <a:bodyPr rtlCol="0" anchor="ctr"/>
          <a:lstStyle/>
          <a:p>
            <a:pPr algn="ctr"/>
          </a:p>
        </p:txBody>
      </p:sp>
      <p:sp>
        <p:nvSpPr>
          <p:cNvPr id="14" name="TextBox 13"/>
          <p:cNvSpPr txBox="1"/>
          <p:nvPr/>
        </p:nvSpPr>
        <p:spPr>
          <a:xfrm>
            <a:off x="847725" y="5095875"/>
            <a:ext cx="2390775" cy="347662"/>
          </a:xfrm>
          <a:prstGeom prst="rect">
            <a:avLst/>
          </a:prstGeom>
          <a:noFill/>
          <a:effectLst/>
        </p:spPr>
        <p:txBody>
          <a:bodyPr wrap="none" lIns="0" rIns="0" tIns="0" bIns="0" anchor="t">
            <a:spAutoFit/>
          </a:bodyPr>
          <a:lstStyle/>
          <a:p>
            <a:pPr algn="l">
              <a:lnSpc>
                <a:spcPct val="118000"/>
              </a:lnSpc>
              <a:spcBef>
                <a:spcPts val="0"/>
              </a:spcBef>
              <a:spcAft>
                <a:spcPts val="0"/>
              </a:spcAft>
            </a:pPr>
            <a:r>
              <a:rPr sz="1875" i="0" b="0">
                <a:solidFill>
                  <a:srgbClr val="245C48"/>
                </a:solidFill>
                <a:latin typeface="DM Sans"/>
              </a:rPr>
              <a:t>Students</a:t>
            </a:r>
          </a:p>
        </p:txBody>
      </p:sp>
      <p:sp>
        <p:nvSpPr>
          <p:cNvPr id="15" name="TextBox 14"/>
          <p:cNvSpPr txBox="1"/>
          <p:nvPr/>
        </p:nvSpPr>
        <p:spPr>
          <a:xfrm>
            <a:off x="847725" y="5505450"/>
            <a:ext cx="239077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5C6D63"/>
                </a:solidFill>
                <a:latin typeface="DM Sans"/>
              </a:rPr>
              <a:t>Essays and theses</a:t>
            </a:r>
          </a:p>
        </p:txBody>
      </p:sp>
      <p:sp>
        <p:nvSpPr>
          <p:cNvPr id="16" name="TextBox 15"/>
          <p:cNvSpPr txBox="1"/>
          <p:nvPr/>
        </p:nvSpPr>
        <p:spPr>
          <a:xfrm>
            <a:off x="3571875" y="5095875"/>
            <a:ext cx="2390775" cy="347662"/>
          </a:xfrm>
          <a:prstGeom prst="rect">
            <a:avLst/>
          </a:prstGeom>
          <a:noFill/>
          <a:effectLst/>
        </p:spPr>
        <p:txBody>
          <a:bodyPr wrap="none" lIns="0" rIns="0" tIns="0" bIns="0" anchor="t">
            <a:spAutoFit/>
          </a:bodyPr>
          <a:lstStyle/>
          <a:p>
            <a:pPr algn="l">
              <a:lnSpc>
                <a:spcPct val="118000"/>
              </a:lnSpc>
              <a:spcBef>
                <a:spcPts val="0"/>
              </a:spcBef>
              <a:spcAft>
                <a:spcPts val="0"/>
              </a:spcAft>
            </a:pPr>
            <a:r>
              <a:rPr sz="1875" i="0" b="0">
                <a:solidFill>
                  <a:srgbClr val="245C48"/>
                </a:solidFill>
                <a:latin typeface="DM Sans"/>
              </a:rPr>
              <a:t>Researchers</a:t>
            </a:r>
          </a:p>
        </p:txBody>
      </p:sp>
      <p:sp>
        <p:nvSpPr>
          <p:cNvPr id="17" name="TextBox 16"/>
          <p:cNvSpPr txBox="1"/>
          <p:nvPr/>
        </p:nvSpPr>
        <p:spPr>
          <a:xfrm>
            <a:off x="3571875" y="5505450"/>
            <a:ext cx="239077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5C6D63"/>
                </a:solidFill>
                <a:latin typeface="DM Sans"/>
              </a:rPr>
              <a:t>Manuscripts</a:t>
            </a:r>
          </a:p>
        </p:txBody>
      </p:sp>
      <p:sp>
        <p:nvSpPr>
          <p:cNvPr id="18" name="TextBox 17"/>
          <p:cNvSpPr txBox="1"/>
          <p:nvPr/>
        </p:nvSpPr>
        <p:spPr>
          <a:xfrm>
            <a:off x="6305550" y="5095875"/>
            <a:ext cx="2390775" cy="347662"/>
          </a:xfrm>
          <a:prstGeom prst="rect">
            <a:avLst/>
          </a:prstGeom>
          <a:noFill/>
          <a:effectLst/>
        </p:spPr>
        <p:txBody>
          <a:bodyPr wrap="none" lIns="0" rIns="0" tIns="0" bIns="0" anchor="t">
            <a:spAutoFit/>
          </a:bodyPr>
          <a:lstStyle/>
          <a:p>
            <a:pPr algn="l">
              <a:lnSpc>
                <a:spcPct val="118000"/>
              </a:lnSpc>
              <a:spcBef>
                <a:spcPts val="0"/>
              </a:spcBef>
              <a:spcAft>
                <a:spcPts val="0"/>
              </a:spcAft>
            </a:pPr>
            <a:r>
              <a:rPr sz="1875" i="0" b="0">
                <a:solidFill>
                  <a:srgbClr val="245C48"/>
                </a:solidFill>
                <a:latin typeface="DM Sans"/>
              </a:rPr>
              <a:t>Consultants</a:t>
            </a:r>
          </a:p>
        </p:txBody>
      </p:sp>
      <p:sp>
        <p:nvSpPr>
          <p:cNvPr id="19" name="TextBox 18"/>
          <p:cNvSpPr txBox="1"/>
          <p:nvPr/>
        </p:nvSpPr>
        <p:spPr>
          <a:xfrm>
            <a:off x="6305550" y="5505450"/>
            <a:ext cx="239077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5C6D63"/>
                </a:solidFill>
                <a:latin typeface="DM Sans"/>
              </a:rPr>
              <a:t>Client reports</a:t>
            </a:r>
          </a:p>
        </p:txBody>
      </p:sp>
      <p:sp>
        <p:nvSpPr>
          <p:cNvPr id="20" name="TextBox 19"/>
          <p:cNvSpPr txBox="1"/>
          <p:nvPr/>
        </p:nvSpPr>
        <p:spPr>
          <a:xfrm>
            <a:off x="9029700" y="5095875"/>
            <a:ext cx="2390775" cy="347662"/>
          </a:xfrm>
          <a:prstGeom prst="rect">
            <a:avLst/>
          </a:prstGeom>
          <a:noFill/>
          <a:effectLst/>
        </p:spPr>
        <p:txBody>
          <a:bodyPr wrap="none" lIns="0" rIns="0" tIns="0" bIns="0" anchor="t">
            <a:spAutoFit/>
          </a:bodyPr>
          <a:lstStyle/>
          <a:p>
            <a:pPr algn="l">
              <a:lnSpc>
                <a:spcPct val="118000"/>
              </a:lnSpc>
              <a:spcBef>
                <a:spcPts val="0"/>
              </a:spcBef>
              <a:spcAft>
                <a:spcPts val="0"/>
              </a:spcAft>
            </a:pPr>
            <a:r>
              <a:rPr sz="1875" i="0" b="0">
                <a:solidFill>
                  <a:srgbClr val="245C48"/>
                </a:solidFill>
                <a:latin typeface="DM Sans"/>
              </a:rPr>
              <a:t>Analysts</a:t>
            </a:r>
          </a:p>
        </p:txBody>
      </p:sp>
      <p:sp>
        <p:nvSpPr>
          <p:cNvPr id="21" name="TextBox 20"/>
          <p:cNvSpPr txBox="1"/>
          <p:nvPr/>
        </p:nvSpPr>
        <p:spPr>
          <a:xfrm>
            <a:off x="9029700" y="5505450"/>
            <a:ext cx="239077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5C6D63"/>
                </a:solidFill>
                <a:latin typeface="DM Sans"/>
              </a:rPr>
              <a:t>Evidence briefs</a:t>
            </a:r>
          </a:p>
        </p:txBody>
      </p:sp>
      <p:sp>
        <p:nvSpPr>
          <p:cNvPr id="22" name="TextBox 21"/>
          <p:cNvSpPr txBox="1"/>
          <p:nvPr/>
        </p:nvSpPr>
        <p:spPr>
          <a:xfrm>
            <a:off x="609600" y="6096000"/>
            <a:ext cx="10972800" cy="224028"/>
          </a:xfrm>
          <a:prstGeom prst="rect">
            <a:avLst/>
          </a:prstGeom>
          <a:noFill/>
          <a:effectLst/>
        </p:spPr>
        <p:txBody>
          <a:bodyPr wrap="none" lIns="0" rIns="0" tIns="0" bIns="0" anchor="t">
            <a:spAutoFit/>
          </a:bodyPr>
          <a:lstStyle/>
          <a:p>
            <a:pPr algn="l">
              <a:lnSpc>
                <a:spcPct val="118000"/>
              </a:lnSpc>
              <a:spcBef>
                <a:spcPts val="0"/>
              </a:spcBef>
              <a:spcAft>
                <a:spcPts val="0"/>
              </a:spcAft>
            </a:pPr>
            <a:r>
              <a:rPr sz="1050" i="0" b="0">
                <a:solidFill>
                  <a:srgbClr val="5C6D63"/>
                </a:solidFill>
                <a:latin typeface="DM Sans"/>
              </a:rPr>
              <a:t>Paper search exists. Claims still need checking against the original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TextBox 1"/>
          <p:cNvSpPr txBox="1"/>
          <p:nvPr/>
        </p:nvSpPr>
        <p:spPr>
          <a:xfrm>
            <a:off x="609600" y="333375"/>
            <a:ext cx="1428750" cy="437578"/>
          </a:xfrm>
          <a:prstGeom prst="rect">
            <a:avLst/>
          </a:prstGeom>
          <a:noFill/>
          <a:effectLst/>
        </p:spPr>
        <p:txBody>
          <a:bodyPr wrap="none" lIns="0" rIns="0" tIns="0" bIns="0" anchor="t">
            <a:spAutoFit/>
          </a:bodyPr>
          <a:lstStyle/>
          <a:p>
            <a:pPr algn="l">
              <a:lnSpc>
                <a:spcPct val="118000"/>
              </a:lnSpc>
              <a:spcBef>
                <a:spcPts val="0"/>
              </a:spcBef>
              <a:spcAft>
                <a:spcPts val="0"/>
              </a:spcAft>
            </a:pPr>
            <a:r>
              <a:rPr sz="2475" i="0" b="0">
                <a:solidFill>
                  <a:srgbClr val="1D3027"/>
                </a:solidFill>
                <a:latin typeface="Newsreader"/>
              </a:rPr>
              <a:t>proof.</a:t>
            </a:r>
          </a:p>
        </p:txBody>
      </p:sp>
      <p:sp>
        <p:nvSpPr>
          <p:cNvPr id="3" name="TextBox 2"/>
          <p:cNvSpPr txBox="1"/>
          <p:nvPr/>
        </p:nvSpPr>
        <p:spPr>
          <a:xfrm>
            <a:off x="7620000" y="400050"/>
            <a:ext cx="3962399" cy="246507"/>
          </a:xfrm>
          <a:prstGeom prst="rect">
            <a:avLst/>
          </a:prstGeom>
          <a:noFill/>
          <a:effectLst/>
        </p:spPr>
        <p:txBody>
          <a:bodyPr wrap="none" lIns="0" rIns="0" tIns="0" bIns="0" anchor="t">
            <a:spAutoFit/>
          </a:bodyPr>
          <a:lstStyle/>
          <a:p>
            <a:pPr algn="r">
              <a:lnSpc>
                <a:spcPct val="118000"/>
              </a:lnSpc>
              <a:spcBef>
                <a:spcPts val="0"/>
              </a:spcBef>
              <a:spcAft>
                <a:spcPts val="0"/>
              </a:spcAft>
            </a:pPr>
            <a:r>
              <a:rPr sz="1200" i="0" b="0">
                <a:solidFill>
                  <a:srgbClr val="5C6D63"/>
                </a:solidFill>
                <a:latin typeface="DM Sans"/>
              </a:rPr>
              <a:t>Research evidence</a:t>
            </a:r>
          </a:p>
        </p:txBody>
      </p:sp>
      <p:cxnSp>
        <p:nvCxnSpPr>
          <p:cNvPr id="4" name="Connector 3"/>
          <p:cNvCxnSpPr/>
          <p:nvPr/>
        </p:nvCxnSpPr>
        <p:spPr>
          <a:xfrm>
            <a:off x="609600" y="6343650"/>
            <a:ext cx="10972800" cy="0"/>
          </a:xfrm>
          <a:prstGeom prst="line">
            <a:avLst/>
          </a:prstGeom>
          <a:ln w="9525">
            <a:solidFill>
              <a:srgbClr val="DCE5DF"/>
            </a:solidFill>
          </a:ln>
          <a:effectLst/>
        </p:spPr>
      </p:cxnSp>
      <p:sp>
        <p:nvSpPr>
          <p:cNvPr id="5" name="TextBox 4"/>
          <p:cNvSpPr txBox="1"/>
          <p:nvPr/>
        </p:nvSpPr>
        <p:spPr>
          <a:xfrm>
            <a:off x="609600" y="6477000"/>
            <a:ext cx="6191250" cy="212788"/>
          </a:xfrm>
          <a:prstGeom prst="rect">
            <a:avLst/>
          </a:prstGeom>
          <a:noFill/>
          <a:effectLst/>
        </p:spPr>
        <p:txBody>
          <a:bodyPr wrap="none" lIns="0" rIns="0" tIns="0" bIns="0" anchor="t">
            <a:spAutoFit/>
          </a:bodyPr>
          <a:lstStyle/>
          <a:p>
            <a:pPr algn="l">
              <a:lnSpc>
                <a:spcPct val="118000"/>
              </a:lnSpc>
              <a:spcBef>
                <a:spcPts val="0"/>
              </a:spcBef>
              <a:spcAft>
                <a:spcPts val="0"/>
              </a:spcAft>
            </a:pPr>
            <a:r>
              <a:rPr sz="975" i="0" b="0">
                <a:solidFill>
                  <a:srgbClr val="5C6D63"/>
                </a:solidFill>
                <a:latin typeface="DM Sans"/>
              </a:rPr>
              <a:t>Proof · Hackathon pitch · First draft</a:t>
            </a:r>
          </a:p>
        </p:txBody>
      </p:sp>
      <p:sp>
        <p:nvSpPr>
          <p:cNvPr id="6" name="TextBox 5"/>
          <p:cNvSpPr txBox="1"/>
          <p:nvPr/>
        </p:nvSpPr>
        <p:spPr>
          <a:xfrm>
            <a:off x="10191750" y="6477000"/>
            <a:ext cx="139065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5C6D63"/>
                </a:solidFill>
                <a:latin typeface="DM Sans"/>
              </a:rPr>
              <a:t>04 / 08</a:t>
            </a:r>
          </a:p>
        </p:txBody>
      </p:sp>
      <p:sp>
        <p:nvSpPr>
          <p:cNvPr id="7" name="TextBox 6"/>
          <p:cNvSpPr txBox="1"/>
          <p:nvPr/>
        </p:nvSpPr>
        <p:spPr>
          <a:xfrm>
            <a:off x="609600" y="1076325"/>
            <a:ext cx="10972800" cy="786002"/>
          </a:xfrm>
          <a:prstGeom prst="rect">
            <a:avLst/>
          </a:prstGeom>
          <a:noFill/>
          <a:effectLst/>
        </p:spPr>
        <p:txBody>
          <a:bodyPr wrap="none" lIns="0" rIns="0" tIns="0" bIns="0" anchor="t">
            <a:spAutoFit/>
          </a:bodyPr>
          <a:lstStyle/>
          <a:p>
            <a:pPr algn="l">
              <a:lnSpc>
                <a:spcPct val="118000"/>
              </a:lnSpc>
              <a:spcBef>
                <a:spcPts val="0"/>
              </a:spcBef>
              <a:spcAft>
                <a:spcPts val="0"/>
              </a:spcAft>
            </a:pPr>
            <a:r>
              <a:rPr sz="4800" i="0" b="0">
                <a:solidFill>
                  <a:srgbClr val="1D3027"/>
                </a:solidFill>
                <a:latin typeface="Newsreader"/>
              </a:rPr>
              <a:t>The citation looked real.</a:t>
            </a:r>
          </a:p>
        </p:txBody>
      </p:sp>
      <p:sp>
        <p:nvSpPr>
          <p:cNvPr id="8" name="TextBox 7"/>
          <p:cNvSpPr txBox="1"/>
          <p:nvPr/>
        </p:nvSpPr>
        <p:spPr>
          <a:xfrm>
            <a:off x="609600" y="2371725"/>
            <a:ext cx="3990974" cy="1381125"/>
          </a:xfrm>
          <a:prstGeom prst="rect">
            <a:avLst/>
          </a:prstGeom>
          <a:noFill/>
          <a:effectLst/>
        </p:spPr>
        <p:txBody>
          <a:bodyPr wrap="none" lIns="0" rIns="0" tIns="0" bIns="0" anchor="t">
            <a:spAutoFit/>
          </a:bodyPr>
          <a:lstStyle/>
          <a:p>
            <a:pPr algn="l">
              <a:lnSpc>
                <a:spcPct val="118000"/>
              </a:lnSpc>
              <a:spcBef>
                <a:spcPts val="0"/>
              </a:spcBef>
              <a:spcAft>
                <a:spcPts val="0"/>
              </a:spcAft>
            </a:pPr>
            <a:r>
              <a:rPr sz="9150" i="0" b="0">
                <a:solidFill>
                  <a:srgbClr val="245C48"/>
                </a:solidFill>
                <a:latin typeface="Newsreader"/>
              </a:rPr>
              <a:t>56%</a:t>
            </a:r>
          </a:p>
        </p:txBody>
      </p:sp>
      <p:sp>
        <p:nvSpPr>
          <p:cNvPr id="9" name="TextBox 8"/>
          <p:cNvSpPr txBox="1"/>
          <p:nvPr/>
        </p:nvSpPr>
        <p:spPr>
          <a:xfrm>
            <a:off x="647700" y="4019549"/>
            <a:ext cx="3971925" cy="735330"/>
          </a:xfrm>
          <a:prstGeom prst="rect">
            <a:avLst/>
          </a:prstGeom>
          <a:noFill/>
          <a:effectLst/>
        </p:spPr>
        <p:txBody>
          <a:bodyPr wrap="none" lIns="0" rIns="0" tIns="0" bIns="0" anchor="t">
            <a:spAutoFit/>
          </a:bodyPr>
          <a:lstStyle/>
          <a:p>
            <a:pPr algn="l">
              <a:lnSpc>
                <a:spcPct val="130000"/>
              </a:lnSpc>
              <a:spcBef>
                <a:spcPts val="0"/>
              </a:spcBef>
              <a:spcAft>
                <a:spcPts val="0"/>
              </a:spcAft>
            </a:pPr>
            <a:r>
              <a:rPr sz="2025" i="0" b="0">
                <a:solidFill>
                  <a:srgbClr val="1D3027"/>
                </a:solidFill>
                <a:latin typeface="DM Sans"/>
              </a:rPr>
              <a:t>fabricated or inaccurate</a:t>
            </a:r>
          </a:p>
          <a:p>
            <a:pPr algn="l">
              <a:lnSpc>
                <a:spcPct val="130000"/>
              </a:lnSpc>
              <a:spcBef>
                <a:spcPts val="0"/>
              </a:spcBef>
              <a:spcAft>
                <a:spcPts val="0"/>
              </a:spcAft>
            </a:pPr>
            <a:r>
              <a:rPr sz="2025" i="0" b="0">
                <a:solidFill>
                  <a:srgbClr val="1D3027"/>
                </a:solidFill>
                <a:latin typeface="DM Sans"/>
              </a:rPr>
              <a:t>in one controlled study</a:t>
            </a:r>
          </a:p>
        </p:txBody>
      </p:sp>
      <p:sp>
        <p:nvSpPr>
          <p:cNvPr id="10" name="TextBox 9"/>
          <p:cNvSpPr txBox="1"/>
          <p:nvPr/>
        </p:nvSpPr>
        <p:spPr>
          <a:xfrm>
            <a:off x="5076825" y="2371725"/>
            <a:ext cx="6286500" cy="347662"/>
          </a:xfrm>
          <a:prstGeom prst="rect">
            <a:avLst/>
          </a:prstGeom>
          <a:noFill/>
          <a:effectLst/>
        </p:spPr>
        <p:txBody>
          <a:bodyPr wrap="none" lIns="0" rIns="0" tIns="0" bIns="0" anchor="t">
            <a:spAutoFit/>
          </a:bodyPr>
          <a:lstStyle/>
          <a:p>
            <a:pPr algn="l">
              <a:lnSpc>
                <a:spcPct val="118000"/>
              </a:lnSpc>
              <a:spcBef>
                <a:spcPts val="0"/>
              </a:spcBef>
              <a:spcAft>
                <a:spcPts val="0"/>
              </a:spcAft>
            </a:pPr>
            <a:r>
              <a:rPr sz="1875" i="0" b="0">
                <a:solidFill>
                  <a:srgbClr val="1D3027"/>
                </a:solidFill>
                <a:latin typeface="DM Sans"/>
              </a:rPr>
              <a:t>176 references generated by GPT-4o</a:t>
            </a:r>
          </a:p>
        </p:txBody>
      </p:sp>
      <p:sp>
        <p:nvSpPr>
          <p:cNvPr id="11" name="Rectangle 10"/>
          <p:cNvSpPr/>
          <p:nvPr/>
        </p:nvSpPr>
        <p:spPr>
          <a:xfrm>
            <a:off x="5076825" y="2924175"/>
            <a:ext cx="1250156" cy="800100"/>
          </a:xfrm>
          <a:prstGeom prst="rect">
            <a:avLst/>
          </a:prstGeom>
          <a:solidFill>
            <a:srgbClr val="996A3E"/>
          </a:solidFill>
          <a:ln>
            <a:noFill/>
          </a:ln>
          <a:effectLst/>
        </p:spPr>
        <p:txBody>
          <a:bodyPr rtlCol="0" anchor="ctr"/>
          <a:lstStyle/>
          <a:p>
            <a:pPr algn="ctr"/>
          </a:p>
        </p:txBody>
      </p:sp>
      <p:sp>
        <p:nvSpPr>
          <p:cNvPr id="12" name="TextBox 11"/>
          <p:cNvSpPr txBox="1"/>
          <p:nvPr/>
        </p:nvSpPr>
        <p:spPr>
          <a:xfrm>
            <a:off x="5124450" y="3133725"/>
            <a:ext cx="1154906" cy="448817"/>
          </a:xfrm>
          <a:prstGeom prst="rect">
            <a:avLst/>
          </a:prstGeom>
          <a:noFill/>
          <a:effectLst/>
        </p:spPr>
        <p:txBody>
          <a:bodyPr wrap="none" lIns="0" rIns="0" tIns="0" bIns="0" anchor="t">
            <a:spAutoFit/>
          </a:bodyPr>
          <a:lstStyle/>
          <a:p>
            <a:pPr algn="ctr">
              <a:lnSpc>
                <a:spcPct val="118000"/>
              </a:lnSpc>
              <a:spcBef>
                <a:spcPts val="0"/>
              </a:spcBef>
              <a:spcAft>
                <a:spcPts val="0"/>
              </a:spcAft>
            </a:pPr>
            <a:r>
              <a:rPr sz="2550" i="0" b="0">
                <a:solidFill>
                  <a:srgbClr val="FFFFFF"/>
                </a:solidFill>
                <a:latin typeface="DM Sans"/>
              </a:rPr>
              <a:t>35</a:t>
            </a:r>
          </a:p>
        </p:txBody>
      </p:sp>
      <p:sp>
        <p:nvSpPr>
          <p:cNvPr id="13" name="Rectangle 12"/>
          <p:cNvSpPr/>
          <p:nvPr/>
        </p:nvSpPr>
        <p:spPr>
          <a:xfrm>
            <a:off x="6326981" y="2924175"/>
            <a:ext cx="2286000" cy="800100"/>
          </a:xfrm>
          <a:prstGeom prst="rect">
            <a:avLst/>
          </a:prstGeom>
          <a:solidFill>
            <a:srgbClr val="B6CDBE"/>
          </a:solidFill>
          <a:ln>
            <a:noFill/>
          </a:ln>
          <a:effectLst/>
        </p:spPr>
        <p:txBody>
          <a:bodyPr rtlCol="0" anchor="ctr"/>
          <a:lstStyle/>
          <a:p>
            <a:pPr algn="ctr"/>
          </a:p>
        </p:txBody>
      </p:sp>
      <p:sp>
        <p:nvSpPr>
          <p:cNvPr id="14" name="TextBox 13"/>
          <p:cNvSpPr txBox="1"/>
          <p:nvPr/>
        </p:nvSpPr>
        <p:spPr>
          <a:xfrm>
            <a:off x="6374606" y="3133725"/>
            <a:ext cx="2190750" cy="448817"/>
          </a:xfrm>
          <a:prstGeom prst="rect">
            <a:avLst/>
          </a:prstGeom>
          <a:noFill/>
          <a:effectLst/>
        </p:spPr>
        <p:txBody>
          <a:bodyPr wrap="none" lIns="0" rIns="0" tIns="0" bIns="0" anchor="t">
            <a:spAutoFit/>
          </a:bodyPr>
          <a:lstStyle/>
          <a:p>
            <a:pPr algn="ctr">
              <a:lnSpc>
                <a:spcPct val="118000"/>
              </a:lnSpc>
              <a:spcBef>
                <a:spcPts val="0"/>
              </a:spcBef>
              <a:spcAft>
                <a:spcPts val="0"/>
              </a:spcAft>
            </a:pPr>
            <a:r>
              <a:rPr sz="2550" i="0" b="0">
                <a:solidFill>
                  <a:srgbClr val="1D3027"/>
                </a:solidFill>
                <a:latin typeface="DM Sans"/>
              </a:rPr>
              <a:t>64</a:t>
            </a:r>
          </a:p>
        </p:txBody>
      </p:sp>
      <p:sp>
        <p:nvSpPr>
          <p:cNvPr id="15" name="Rectangle 14"/>
          <p:cNvSpPr/>
          <p:nvPr/>
        </p:nvSpPr>
        <p:spPr>
          <a:xfrm>
            <a:off x="8612981" y="2924175"/>
            <a:ext cx="2750343" cy="800100"/>
          </a:xfrm>
          <a:prstGeom prst="rect">
            <a:avLst/>
          </a:prstGeom>
          <a:solidFill>
            <a:srgbClr val="245C48"/>
          </a:solidFill>
          <a:ln>
            <a:noFill/>
          </a:ln>
          <a:effectLst/>
        </p:spPr>
        <p:txBody>
          <a:bodyPr rtlCol="0" anchor="ctr"/>
          <a:lstStyle/>
          <a:p>
            <a:pPr algn="ctr"/>
          </a:p>
        </p:txBody>
      </p:sp>
      <p:sp>
        <p:nvSpPr>
          <p:cNvPr id="16" name="TextBox 15"/>
          <p:cNvSpPr txBox="1"/>
          <p:nvPr/>
        </p:nvSpPr>
        <p:spPr>
          <a:xfrm>
            <a:off x="8660606" y="3133725"/>
            <a:ext cx="2655093" cy="448817"/>
          </a:xfrm>
          <a:prstGeom prst="rect">
            <a:avLst/>
          </a:prstGeom>
          <a:noFill/>
          <a:effectLst/>
        </p:spPr>
        <p:txBody>
          <a:bodyPr wrap="none" lIns="0" rIns="0" tIns="0" bIns="0" anchor="t">
            <a:spAutoFit/>
          </a:bodyPr>
          <a:lstStyle/>
          <a:p>
            <a:pPr algn="ctr">
              <a:lnSpc>
                <a:spcPct val="118000"/>
              </a:lnSpc>
              <a:spcBef>
                <a:spcPts val="0"/>
              </a:spcBef>
              <a:spcAft>
                <a:spcPts val="0"/>
              </a:spcAft>
            </a:pPr>
            <a:r>
              <a:rPr sz="2550" i="0" b="0">
                <a:solidFill>
                  <a:srgbClr val="FFFFFF"/>
                </a:solidFill>
                <a:latin typeface="DM Sans"/>
              </a:rPr>
              <a:t>77</a:t>
            </a:r>
          </a:p>
        </p:txBody>
      </p:sp>
      <p:sp>
        <p:nvSpPr>
          <p:cNvPr id="17" name="Rounded Rectangle 16"/>
          <p:cNvSpPr/>
          <p:nvPr/>
        </p:nvSpPr>
        <p:spPr>
          <a:xfrm>
            <a:off x="5095875" y="4048124"/>
            <a:ext cx="171450" cy="171450"/>
          </a:xfrm>
          <a:prstGeom prst="roundRect">
            <a:avLst>
              <a:gd name="adj" fmla="val 16666"/>
            </a:avLst>
          </a:prstGeom>
          <a:solidFill>
            <a:srgbClr val="996A3E"/>
          </a:solidFill>
          <a:ln>
            <a:noFill/>
          </a:ln>
          <a:effectLst/>
        </p:spPr>
        <p:txBody>
          <a:bodyPr rtlCol="0" anchor="ctr"/>
          <a:lstStyle/>
          <a:p>
            <a:pPr algn="ctr"/>
          </a:p>
        </p:txBody>
      </p:sp>
      <p:sp>
        <p:nvSpPr>
          <p:cNvPr id="18" name="TextBox 17"/>
          <p:cNvSpPr txBox="1"/>
          <p:nvPr/>
        </p:nvSpPr>
        <p:spPr>
          <a:xfrm>
            <a:off x="5457825" y="4000500"/>
            <a:ext cx="5905500" cy="336423"/>
          </a:xfrm>
          <a:prstGeom prst="rect">
            <a:avLst/>
          </a:prstGeom>
          <a:noFill/>
          <a:effectLst/>
        </p:spPr>
        <p:txBody>
          <a:bodyPr wrap="none" lIns="0" rIns="0" tIns="0" bIns="0" anchor="t">
            <a:spAutoFit/>
          </a:bodyPr>
          <a:lstStyle/>
          <a:p>
            <a:pPr algn="l">
              <a:lnSpc>
                <a:spcPct val="118000"/>
              </a:lnSpc>
              <a:spcBef>
                <a:spcPts val="0"/>
              </a:spcBef>
              <a:spcAft>
                <a:spcPts val="0"/>
              </a:spcAft>
            </a:pPr>
            <a:r>
              <a:rPr sz="1800" i="0" b="0">
                <a:solidFill>
                  <a:srgbClr val="1D3027"/>
                </a:solidFill>
                <a:latin typeface="DM Sans"/>
              </a:rPr>
              <a:t>35 fabricated references</a:t>
            </a:r>
          </a:p>
        </p:txBody>
      </p:sp>
      <p:sp>
        <p:nvSpPr>
          <p:cNvPr id="19" name="Rounded Rectangle 18"/>
          <p:cNvSpPr/>
          <p:nvPr/>
        </p:nvSpPr>
        <p:spPr>
          <a:xfrm>
            <a:off x="5095875" y="4495800"/>
            <a:ext cx="171450" cy="171450"/>
          </a:xfrm>
          <a:prstGeom prst="roundRect">
            <a:avLst>
              <a:gd name="adj" fmla="val 16666"/>
            </a:avLst>
          </a:prstGeom>
          <a:solidFill>
            <a:srgbClr val="B6CDBE"/>
          </a:solidFill>
          <a:ln>
            <a:noFill/>
          </a:ln>
          <a:effectLst/>
        </p:spPr>
        <p:txBody>
          <a:bodyPr rtlCol="0" anchor="ctr"/>
          <a:lstStyle/>
          <a:p>
            <a:pPr algn="ctr"/>
          </a:p>
        </p:txBody>
      </p:sp>
      <p:sp>
        <p:nvSpPr>
          <p:cNvPr id="20" name="TextBox 19"/>
          <p:cNvSpPr txBox="1"/>
          <p:nvPr/>
        </p:nvSpPr>
        <p:spPr>
          <a:xfrm>
            <a:off x="5457825" y="4448175"/>
            <a:ext cx="5905500" cy="336423"/>
          </a:xfrm>
          <a:prstGeom prst="rect">
            <a:avLst/>
          </a:prstGeom>
          <a:noFill/>
          <a:effectLst/>
        </p:spPr>
        <p:txBody>
          <a:bodyPr wrap="none" lIns="0" rIns="0" tIns="0" bIns="0" anchor="t">
            <a:spAutoFit/>
          </a:bodyPr>
          <a:lstStyle/>
          <a:p>
            <a:pPr algn="l">
              <a:lnSpc>
                <a:spcPct val="118000"/>
              </a:lnSpc>
              <a:spcBef>
                <a:spcPts val="0"/>
              </a:spcBef>
              <a:spcAft>
                <a:spcPts val="0"/>
              </a:spcAft>
            </a:pPr>
            <a:r>
              <a:rPr sz="1800" i="0" b="0">
                <a:solidFill>
                  <a:srgbClr val="1D3027"/>
                </a:solidFill>
                <a:latin typeface="DM Sans"/>
              </a:rPr>
              <a:t>64 real references with errors</a:t>
            </a:r>
          </a:p>
        </p:txBody>
      </p:sp>
      <p:sp>
        <p:nvSpPr>
          <p:cNvPr id="21" name="Rounded Rectangle 20"/>
          <p:cNvSpPr/>
          <p:nvPr/>
        </p:nvSpPr>
        <p:spPr>
          <a:xfrm>
            <a:off x="5095875" y="4943475"/>
            <a:ext cx="171450" cy="171450"/>
          </a:xfrm>
          <a:prstGeom prst="roundRect">
            <a:avLst>
              <a:gd name="adj" fmla="val 16666"/>
            </a:avLst>
          </a:prstGeom>
          <a:solidFill>
            <a:srgbClr val="245C48"/>
          </a:solidFill>
          <a:ln>
            <a:noFill/>
          </a:ln>
          <a:effectLst/>
        </p:spPr>
        <p:txBody>
          <a:bodyPr rtlCol="0" anchor="ctr"/>
          <a:lstStyle/>
          <a:p>
            <a:pPr algn="ctr"/>
          </a:p>
        </p:txBody>
      </p:sp>
      <p:sp>
        <p:nvSpPr>
          <p:cNvPr id="22" name="TextBox 21"/>
          <p:cNvSpPr txBox="1"/>
          <p:nvPr/>
        </p:nvSpPr>
        <p:spPr>
          <a:xfrm>
            <a:off x="5457825" y="4895850"/>
            <a:ext cx="5905500" cy="336423"/>
          </a:xfrm>
          <a:prstGeom prst="rect">
            <a:avLst/>
          </a:prstGeom>
          <a:noFill/>
          <a:effectLst/>
        </p:spPr>
        <p:txBody>
          <a:bodyPr wrap="none" lIns="0" rIns="0" tIns="0" bIns="0" anchor="t">
            <a:spAutoFit/>
          </a:bodyPr>
          <a:lstStyle/>
          <a:p>
            <a:pPr algn="l">
              <a:lnSpc>
                <a:spcPct val="118000"/>
              </a:lnSpc>
              <a:spcBef>
                <a:spcPts val="0"/>
              </a:spcBef>
              <a:spcAft>
                <a:spcPts val="0"/>
              </a:spcAft>
            </a:pPr>
            <a:r>
              <a:rPr sz="1800" i="0" b="0">
                <a:solidFill>
                  <a:srgbClr val="1D3027"/>
                </a:solidFill>
                <a:latin typeface="DM Sans"/>
              </a:rPr>
              <a:t>77 accurate references</a:t>
            </a:r>
          </a:p>
        </p:txBody>
      </p:sp>
      <p:sp>
        <p:nvSpPr>
          <p:cNvPr id="23" name="TextBox 22"/>
          <p:cNvSpPr txBox="1"/>
          <p:nvPr/>
        </p:nvSpPr>
        <p:spPr>
          <a:xfrm>
            <a:off x="609600" y="5667375"/>
            <a:ext cx="10972800" cy="268985"/>
          </a:xfrm>
          <a:prstGeom prst="rect">
            <a:avLst/>
          </a:prstGeom>
          <a:noFill/>
          <a:effectLst/>
        </p:spPr>
        <p:txBody>
          <a:bodyPr wrap="none" lIns="0" rIns="0" tIns="0" bIns="0" anchor="t">
            <a:spAutoFit/>
          </a:bodyPr>
          <a:lstStyle/>
          <a:p>
            <a:pPr algn="l">
              <a:lnSpc>
                <a:spcPct val="118000"/>
              </a:lnSpc>
              <a:spcBef>
                <a:spcPts val="0"/>
              </a:spcBef>
              <a:spcAft>
                <a:spcPts val="0"/>
              </a:spcAft>
            </a:pPr>
            <a:r>
              <a:rPr sz="1350" i="0" b="0">
                <a:solidFill>
                  <a:srgbClr val="5C6D63"/>
                </a:solidFill>
                <a:latin typeface="DM Sans"/>
              </a:rPr>
              <a:t>June 2025 · Six mental-health literature reviews · Straightforward prompts</a:t>
            </a:r>
          </a:p>
        </p:txBody>
      </p:sp>
      <p:sp>
        <p:nvSpPr>
          <p:cNvPr id="24" name="TextBox 23"/>
          <p:cNvSpPr txBox="1"/>
          <p:nvPr/>
        </p:nvSpPr>
        <p:spPr>
          <a:xfrm>
            <a:off x="609600" y="5981700"/>
            <a:ext cx="8905875" cy="224028"/>
          </a:xfrm>
          <a:prstGeom prst="rect">
            <a:avLst/>
          </a:prstGeom>
          <a:noFill/>
          <a:effectLst/>
        </p:spPr>
        <p:txBody>
          <a:bodyPr wrap="none" lIns="0" rIns="0" tIns="0" bIns="0" anchor="t">
            <a:spAutoFit/>
          </a:bodyPr>
          <a:lstStyle/>
          <a:p>
            <a:pPr algn="l">
              <a:lnSpc>
                <a:spcPct val="118000"/>
              </a:lnSpc>
              <a:spcBef>
                <a:spcPts val="0"/>
              </a:spcBef>
              <a:spcAft>
                <a:spcPts val="0"/>
              </a:spcAft>
            </a:pPr>
            <a:r>
              <a:rPr sz="1050" i="0" b="0">
                <a:solidFill>
                  <a:srgbClr val="5C6D63"/>
                </a:solidFill>
                <a:latin typeface="DM Sans"/>
              </a:rPr>
              <a:t>99 / 176 = 56.3%. Study-specific result, not an error rate for every AI tool.</a:t>
            </a:r>
          </a:p>
        </p:txBody>
      </p:sp>
      <p:sp>
        <p:nvSpPr>
          <p:cNvPr id="25" name="TextBox 24"/>
          <p:cNvSpPr txBox="1"/>
          <p:nvPr/>
        </p:nvSpPr>
        <p:spPr>
          <a:xfrm>
            <a:off x="9525000" y="6019800"/>
            <a:ext cx="205740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245C48"/>
                </a:solidFill>
                <a:latin typeface="DM Sans"/>
                <a:hlinkClick r:id="rId2"/>
              </a:rPr>
              <a:t>Linardon et al.,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45C48"/>
        </a:solidFill>
        <a:effectLst/>
      </p:bgPr>
    </p:bg>
    <p:spTree>
      <p:nvGrpSpPr>
        <p:cNvPr id="1" name=""/>
        <p:cNvGrpSpPr/>
        <p:nvPr/>
      </p:nvGrpSpPr>
      <p:grpSpPr/>
      <p:sp>
        <p:nvSpPr>
          <p:cNvPr id="2" name="TextBox 1"/>
          <p:cNvSpPr txBox="1"/>
          <p:nvPr/>
        </p:nvSpPr>
        <p:spPr>
          <a:xfrm>
            <a:off x="609600" y="333375"/>
            <a:ext cx="1428750" cy="437578"/>
          </a:xfrm>
          <a:prstGeom prst="rect">
            <a:avLst/>
          </a:prstGeom>
          <a:noFill/>
          <a:effectLst/>
        </p:spPr>
        <p:txBody>
          <a:bodyPr wrap="none" lIns="0" rIns="0" tIns="0" bIns="0" anchor="t">
            <a:spAutoFit/>
          </a:bodyPr>
          <a:lstStyle/>
          <a:p>
            <a:pPr algn="l">
              <a:lnSpc>
                <a:spcPct val="118000"/>
              </a:lnSpc>
              <a:spcBef>
                <a:spcPts val="0"/>
              </a:spcBef>
              <a:spcAft>
                <a:spcPts val="0"/>
              </a:spcAft>
            </a:pPr>
            <a:r>
              <a:rPr sz="2475" i="0" b="0">
                <a:solidFill>
                  <a:srgbClr val="FFFFFF"/>
                </a:solidFill>
                <a:latin typeface="Newsreader"/>
              </a:rPr>
              <a:t>proof.</a:t>
            </a:r>
          </a:p>
        </p:txBody>
      </p:sp>
      <p:sp>
        <p:nvSpPr>
          <p:cNvPr id="3" name="TextBox 2"/>
          <p:cNvSpPr txBox="1"/>
          <p:nvPr/>
        </p:nvSpPr>
        <p:spPr>
          <a:xfrm>
            <a:off x="7620000" y="400050"/>
            <a:ext cx="3962399" cy="246507"/>
          </a:xfrm>
          <a:prstGeom prst="rect">
            <a:avLst/>
          </a:prstGeom>
          <a:noFill/>
          <a:effectLst/>
        </p:spPr>
        <p:txBody>
          <a:bodyPr wrap="none" lIns="0" rIns="0" tIns="0" bIns="0" anchor="t">
            <a:spAutoFit/>
          </a:bodyPr>
          <a:lstStyle/>
          <a:p>
            <a:pPr algn="r">
              <a:lnSpc>
                <a:spcPct val="118000"/>
              </a:lnSpc>
              <a:spcBef>
                <a:spcPts val="0"/>
              </a:spcBef>
              <a:spcAft>
                <a:spcPts val="0"/>
              </a:spcAft>
            </a:pPr>
            <a:r>
              <a:rPr sz="1200" i="0" b="0">
                <a:solidFill>
                  <a:srgbClr val="D8EBE2"/>
                </a:solidFill>
                <a:latin typeface="DM Sans"/>
              </a:rPr>
              <a:t>Question</a:t>
            </a:r>
          </a:p>
        </p:txBody>
      </p:sp>
      <p:cxnSp>
        <p:nvCxnSpPr>
          <p:cNvPr id="4" name="Connector 3"/>
          <p:cNvCxnSpPr/>
          <p:nvPr/>
        </p:nvCxnSpPr>
        <p:spPr>
          <a:xfrm>
            <a:off x="609600" y="6343650"/>
            <a:ext cx="10972800" cy="0"/>
          </a:xfrm>
          <a:prstGeom prst="line">
            <a:avLst/>
          </a:prstGeom>
          <a:ln w="9525">
            <a:solidFill>
              <a:srgbClr val="487560"/>
            </a:solidFill>
          </a:ln>
          <a:effectLst/>
        </p:spPr>
      </p:cxnSp>
      <p:sp>
        <p:nvSpPr>
          <p:cNvPr id="5" name="TextBox 4"/>
          <p:cNvSpPr txBox="1"/>
          <p:nvPr/>
        </p:nvSpPr>
        <p:spPr>
          <a:xfrm>
            <a:off x="609600" y="6477000"/>
            <a:ext cx="6191250" cy="212788"/>
          </a:xfrm>
          <a:prstGeom prst="rect">
            <a:avLst/>
          </a:prstGeom>
          <a:noFill/>
          <a:effectLst/>
        </p:spPr>
        <p:txBody>
          <a:bodyPr wrap="none" lIns="0" rIns="0" tIns="0" bIns="0" anchor="t">
            <a:spAutoFit/>
          </a:bodyPr>
          <a:lstStyle/>
          <a:p>
            <a:pPr algn="l">
              <a:lnSpc>
                <a:spcPct val="118000"/>
              </a:lnSpc>
              <a:spcBef>
                <a:spcPts val="0"/>
              </a:spcBef>
              <a:spcAft>
                <a:spcPts val="0"/>
              </a:spcAft>
            </a:pPr>
            <a:r>
              <a:rPr sz="975" i="0" b="0">
                <a:solidFill>
                  <a:srgbClr val="D8EBE2"/>
                </a:solidFill>
                <a:latin typeface="DM Sans"/>
              </a:rPr>
              <a:t>Proof · Hackathon pitch · First draft</a:t>
            </a:r>
          </a:p>
        </p:txBody>
      </p:sp>
      <p:sp>
        <p:nvSpPr>
          <p:cNvPr id="6" name="TextBox 5"/>
          <p:cNvSpPr txBox="1"/>
          <p:nvPr/>
        </p:nvSpPr>
        <p:spPr>
          <a:xfrm>
            <a:off x="10191750" y="6477000"/>
            <a:ext cx="139065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D8EBE2"/>
                </a:solidFill>
                <a:latin typeface="DM Sans"/>
              </a:rPr>
              <a:t>05 / 08</a:t>
            </a:r>
          </a:p>
        </p:txBody>
      </p:sp>
      <p:sp>
        <p:nvSpPr>
          <p:cNvPr id="7" name="TextBox 6"/>
          <p:cNvSpPr txBox="1"/>
          <p:nvPr/>
        </p:nvSpPr>
        <p:spPr>
          <a:xfrm>
            <a:off x="933449" y="1771650"/>
            <a:ext cx="10325100" cy="2733675"/>
          </a:xfrm>
          <a:prstGeom prst="rect">
            <a:avLst/>
          </a:prstGeom>
          <a:noFill/>
          <a:effectLst/>
        </p:spPr>
        <p:txBody>
          <a:bodyPr wrap="none" lIns="0" rIns="0" tIns="0" bIns="0" anchor="t">
            <a:spAutoFit/>
          </a:bodyPr>
          <a:lstStyle/>
          <a:p>
            <a:pPr algn="ctr">
              <a:lnSpc>
                <a:spcPct val="109000"/>
              </a:lnSpc>
              <a:spcBef>
                <a:spcPts val="0"/>
              </a:spcBef>
              <a:spcAft>
                <a:spcPts val="0"/>
              </a:spcAft>
            </a:pPr>
            <a:r>
              <a:rPr sz="6075" i="0" b="0">
                <a:solidFill>
                  <a:srgbClr val="FFFFFF"/>
                </a:solidFill>
                <a:latin typeface="Newsreader"/>
              </a:rPr>
              <a:t>How can we check</a:t>
            </a:r>
          </a:p>
          <a:p>
            <a:pPr algn="ctr">
              <a:lnSpc>
                <a:spcPct val="109000"/>
              </a:lnSpc>
              <a:spcBef>
                <a:spcPts val="0"/>
              </a:spcBef>
              <a:spcAft>
                <a:spcPts val="0"/>
              </a:spcAft>
            </a:pPr>
            <a:r>
              <a:rPr sz="6075" i="0" b="0">
                <a:solidFill>
                  <a:srgbClr val="FFFFFF"/>
                </a:solidFill>
                <a:latin typeface="Newsreader"/>
              </a:rPr>
              <a:t>AI-assisted research</a:t>
            </a:r>
          </a:p>
          <a:p>
            <a:pPr algn="ctr">
              <a:lnSpc>
                <a:spcPct val="109000"/>
              </a:lnSpc>
              <a:spcBef>
                <a:spcPts val="0"/>
              </a:spcBef>
              <a:spcAft>
                <a:spcPts val="0"/>
              </a:spcAft>
            </a:pPr>
            <a:r>
              <a:rPr sz="6075" i="0" b="0">
                <a:solidFill>
                  <a:srgbClr val="FFFFFF"/>
                </a:solidFill>
                <a:latin typeface="Newsreader"/>
              </a:rPr>
              <a:t>before we rely on it?</a:t>
            </a:r>
          </a:p>
        </p:txBody>
      </p:sp>
      <p:cxnSp>
        <p:nvCxnSpPr>
          <p:cNvPr id="8" name="Connector 7"/>
          <p:cNvCxnSpPr/>
          <p:nvPr/>
        </p:nvCxnSpPr>
        <p:spPr>
          <a:xfrm>
            <a:off x="4514850" y="4962525"/>
            <a:ext cx="3162300" cy="0"/>
          </a:xfrm>
          <a:prstGeom prst="line">
            <a:avLst/>
          </a:prstGeom>
          <a:ln w="28575">
            <a:solidFill>
              <a:srgbClr val="D8EBE2"/>
            </a:solidFill>
          </a:ln>
          <a:effectLst/>
        </p:spPr>
      </p:cxnSp>
      <p:sp>
        <p:nvSpPr>
          <p:cNvPr id="9" name="TextBox 8"/>
          <p:cNvSpPr txBox="1"/>
          <p:nvPr/>
        </p:nvSpPr>
        <p:spPr>
          <a:xfrm>
            <a:off x="1152525" y="5410200"/>
            <a:ext cx="9886950" cy="358902"/>
          </a:xfrm>
          <a:prstGeom prst="rect">
            <a:avLst/>
          </a:prstGeom>
          <a:noFill/>
          <a:effectLst/>
        </p:spPr>
        <p:txBody>
          <a:bodyPr wrap="none" lIns="0" rIns="0" tIns="0" bIns="0" anchor="t">
            <a:spAutoFit/>
          </a:bodyPr>
          <a:lstStyle/>
          <a:p>
            <a:pPr algn="ctr">
              <a:lnSpc>
                <a:spcPct val="118000"/>
              </a:lnSpc>
              <a:spcBef>
                <a:spcPts val="0"/>
              </a:spcBef>
              <a:spcAft>
                <a:spcPts val="0"/>
              </a:spcAft>
            </a:pPr>
            <a:r>
              <a:rPr sz="1950" i="0" b="0">
                <a:solidFill>
                  <a:srgbClr val="D8EBE2"/>
                </a:solidFill>
                <a:latin typeface="DM Sans"/>
              </a:rPr>
              <a:t>Before it reaches a reader, reviewer, or client.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TextBox 1"/>
          <p:cNvSpPr txBox="1"/>
          <p:nvPr/>
        </p:nvSpPr>
        <p:spPr>
          <a:xfrm>
            <a:off x="609600" y="333375"/>
            <a:ext cx="1428750" cy="437578"/>
          </a:xfrm>
          <a:prstGeom prst="rect">
            <a:avLst/>
          </a:prstGeom>
          <a:noFill/>
          <a:effectLst/>
        </p:spPr>
        <p:txBody>
          <a:bodyPr wrap="none" lIns="0" rIns="0" tIns="0" bIns="0" anchor="t">
            <a:spAutoFit/>
          </a:bodyPr>
          <a:lstStyle/>
          <a:p>
            <a:pPr algn="l">
              <a:lnSpc>
                <a:spcPct val="118000"/>
              </a:lnSpc>
              <a:spcBef>
                <a:spcPts val="0"/>
              </a:spcBef>
              <a:spcAft>
                <a:spcPts val="0"/>
              </a:spcAft>
            </a:pPr>
            <a:r>
              <a:rPr sz="2475" i="0" b="0">
                <a:solidFill>
                  <a:srgbClr val="1D3027"/>
                </a:solidFill>
                <a:latin typeface="Newsreader"/>
              </a:rPr>
              <a:t>proof.</a:t>
            </a:r>
          </a:p>
        </p:txBody>
      </p:sp>
      <p:sp>
        <p:nvSpPr>
          <p:cNvPr id="3" name="TextBox 2"/>
          <p:cNvSpPr txBox="1"/>
          <p:nvPr/>
        </p:nvSpPr>
        <p:spPr>
          <a:xfrm>
            <a:off x="7620000" y="400050"/>
            <a:ext cx="3962399" cy="246507"/>
          </a:xfrm>
          <a:prstGeom prst="rect">
            <a:avLst/>
          </a:prstGeom>
          <a:noFill/>
          <a:effectLst/>
        </p:spPr>
        <p:txBody>
          <a:bodyPr wrap="none" lIns="0" rIns="0" tIns="0" bIns="0" anchor="t">
            <a:spAutoFit/>
          </a:bodyPr>
          <a:lstStyle/>
          <a:p>
            <a:pPr algn="r">
              <a:lnSpc>
                <a:spcPct val="118000"/>
              </a:lnSpc>
              <a:spcBef>
                <a:spcPts val="0"/>
              </a:spcBef>
              <a:spcAft>
                <a:spcPts val="0"/>
              </a:spcAft>
            </a:pPr>
            <a:r>
              <a:rPr sz="1200" i="0" b="0">
                <a:solidFill>
                  <a:srgbClr val="5C6D63"/>
                </a:solidFill>
                <a:latin typeface="DM Sans"/>
              </a:rPr>
              <a:t>Solution · Demo follows</a:t>
            </a:r>
          </a:p>
        </p:txBody>
      </p:sp>
      <p:cxnSp>
        <p:nvCxnSpPr>
          <p:cNvPr id="4" name="Connector 3"/>
          <p:cNvCxnSpPr/>
          <p:nvPr/>
        </p:nvCxnSpPr>
        <p:spPr>
          <a:xfrm>
            <a:off x="609600" y="6343650"/>
            <a:ext cx="10972800" cy="0"/>
          </a:xfrm>
          <a:prstGeom prst="line">
            <a:avLst/>
          </a:prstGeom>
          <a:ln w="9525">
            <a:solidFill>
              <a:srgbClr val="DCE5DF"/>
            </a:solidFill>
          </a:ln>
          <a:effectLst/>
        </p:spPr>
      </p:cxnSp>
      <p:sp>
        <p:nvSpPr>
          <p:cNvPr id="5" name="TextBox 4"/>
          <p:cNvSpPr txBox="1"/>
          <p:nvPr/>
        </p:nvSpPr>
        <p:spPr>
          <a:xfrm>
            <a:off x="609600" y="6477000"/>
            <a:ext cx="6191250" cy="212788"/>
          </a:xfrm>
          <a:prstGeom prst="rect">
            <a:avLst/>
          </a:prstGeom>
          <a:noFill/>
          <a:effectLst/>
        </p:spPr>
        <p:txBody>
          <a:bodyPr wrap="none" lIns="0" rIns="0" tIns="0" bIns="0" anchor="t">
            <a:spAutoFit/>
          </a:bodyPr>
          <a:lstStyle/>
          <a:p>
            <a:pPr algn="l">
              <a:lnSpc>
                <a:spcPct val="118000"/>
              </a:lnSpc>
              <a:spcBef>
                <a:spcPts val="0"/>
              </a:spcBef>
              <a:spcAft>
                <a:spcPts val="0"/>
              </a:spcAft>
            </a:pPr>
            <a:r>
              <a:rPr sz="975" i="0" b="0">
                <a:solidFill>
                  <a:srgbClr val="5C6D63"/>
                </a:solidFill>
                <a:latin typeface="DM Sans"/>
              </a:rPr>
              <a:t>Proof · Hackathon pitch · First draft</a:t>
            </a:r>
          </a:p>
        </p:txBody>
      </p:sp>
      <p:sp>
        <p:nvSpPr>
          <p:cNvPr id="6" name="TextBox 5"/>
          <p:cNvSpPr txBox="1"/>
          <p:nvPr/>
        </p:nvSpPr>
        <p:spPr>
          <a:xfrm>
            <a:off x="10191750" y="6477000"/>
            <a:ext cx="139065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5C6D63"/>
                </a:solidFill>
                <a:latin typeface="DM Sans"/>
              </a:rPr>
              <a:t>06 / 08</a:t>
            </a:r>
          </a:p>
        </p:txBody>
      </p:sp>
      <p:sp>
        <p:nvSpPr>
          <p:cNvPr id="7" name="TextBox 6"/>
          <p:cNvSpPr txBox="1"/>
          <p:nvPr/>
        </p:nvSpPr>
        <p:spPr>
          <a:xfrm>
            <a:off x="609600" y="1076325"/>
            <a:ext cx="10972800" cy="1289685"/>
          </a:xfrm>
          <a:prstGeom prst="rect">
            <a:avLst/>
          </a:prstGeom>
          <a:noFill/>
          <a:effectLst/>
        </p:spPr>
        <p:txBody>
          <a:bodyPr wrap="none" lIns="0" rIns="0" tIns="0" bIns="0" anchor="t">
            <a:spAutoFit/>
          </a:bodyPr>
          <a:lstStyle/>
          <a:p>
            <a:pPr algn="l">
              <a:lnSpc>
                <a:spcPct val="107000"/>
              </a:lnSpc>
              <a:spcBef>
                <a:spcPts val="0"/>
              </a:spcBef>
              <a:spcAft>
                <a:spcPts val="0"/>
              </a:spcAft>
            </a:pPr>
            <a:r>
              <a:rPr sz="4500" i="0" b="0">
                <a:solidFill>
                  <a:srgbClr val="1D3027"/>
                </a:solidFill>
                <a:latin typeface="Newsreader"/>
              </a:rPr>
              <a:t>Proof compares the claim</a:t>
            </a:r>
          </a:p>
          <a:p>
            <a:pPr algn="l">
              <a:lnSpc>
                <a:spcPct val="107000"/>
              </a:lnSpc>
              <a:spcBef>
                <a:spcPts val="0"/>
              </a:spcBef>
              <a:spcAft>
                <a:spcPts val="0"/>
              </a:spcAft>
            </a:pPr>
            <a:r>
              <a:rPr sz="4500" i="0" b="0">
                <a:solidFill>
                  <a:srgbClr val="1D3027"/>
                </a:solidFill>
                <a:latin typeface="Newsreader"/>
              </a:rPr>
              <a:t>with the academic evidence.</a:t>
            </a:r>
          </a:p>
        </p:txBody>
      </p:sp>
      <p:sp>
        <p:nvSpPr>
          <p:cNvPr id="8" name="Rounded Rectangle 7"/>
          <p:cNvSpPr/>
          <p:nvPr/>
        </p:nvSpPr>
        <p:spPr>
          <a:xfrm>
            <a:off x="609600" y="2819400"/>
            <a:ext cx="361950" cy="361950"/>
          </a:xfrm>
          <a:prstGeom prst="roundRect">
            <a:avLst>
              <a:gd name="adj" fmla="val 50000"/>
            </a:avLst>
          </a:prstGeom>
          <a:solidFill>
            <a:srgbClr val="E7EFE9"/>
          </a:solidFill>
          <a:ln>
            <a:noFill/>
          </a:ln>
          <a:effectLst/>
        </p:spPr>
        <p:txBody>
          <a:bodyPr rtlCol="0" anchor="ctr"/>
          <a:lstStyle/>
          <a:p>
            <a:pPr algn="ctr"/>
          </a:p>
        </p:txBody>
      </p:sp>
      <p:sp>
        <p:nvSpPr>
          <p:cNvPr id="9" name="TextBox 8"/>
          <p:cNvSpPr txBox="1"/>
          <p:nvPr/>
        </p:nvSpPr>
        <p:spPr>
          <a:xfrm>
            <a:off x="609600" y="2867025"/>
            <a:ext cx="361950" cy="313943"/>
          </a:xfrm>
          <a:prstGeom prst="rect">
            <a:avLst/>
          </a:prstGeom>
          <a:noFill/>
          <a:effectLst/>
        </p:spPr>
        <p:txBody>
          <a:bodyPr wrap="none" lIns="0" rIns="0" tIns="0" bIns="0" anchor="t">
            <a:spAutoFit/>
          </a:bodyPr>
          <a:lstStyle/>
          <a:p>
            <a:pPr algn="ctr">
              <a:lnSpc>
                <a:spcPct val="118000"/>
              </a:lnSpc>
              <a:spcBef>
                <a:spcPts val="0"/>
              </a:spcBef>
              <a:spcAft>
                <a:spcPts val="0"/>
              </a:spcAft>
            </a:pPr>
            <a:r>
              <a:rPr sz="1650" i="0" b="0">
                <a:solidFill>
                  <a:srgbClr val="245C48"/>
                </a:solidFill>
                <a:latin typeface="DM Sans"/>
              </a:rPr>
              <a:t>1</a:t>
            </a:r>
          </a:p>
        </p:txBody>
      </p:sp>
      <p:sp>
        <p:nvSpPr>
          <p:cNvPr id="10" name="TextBox 9"/>
          <p:cNvSpPr txBox="1"/>
          <p:nvPr/>
        </p:nvSpPr>
        <p:spPr>
          <a:xfrm>
            <a:off x="1133475" y="2809875"/>
            <a:ext cx="3590925" cy="370141"/>
          </a:xfrm>
          <a:prstGeom prst="rect">
            <a:avLst/>
          </a:prstGeom>
          <a:noFill/>
          <a:effectLst/>
        </p:spPr>
        <p:txBody>
          <a:bodyPr wrap="none" lIns="0" rIns="0" tIns="0" bIns="0" anchor="t">
            <a:spAutoFit/>
          </a:bodyPr>
          <a:lstStyle/>
          <a:p>
            <a:pPr algn="l">
              <a:lnSpc>
                <a:spcPct val="118000"/>
              </a:lnSpc>
              <a:spcBef>
                <a:spcPts val="0"/>
              </a:spcBef>
              <a:spcAft>
                <a:spcPts val="0"/>
              </a:spcAft>
            </a:pPr>
            <a:r>
              <a:rPr sz="2025" i="0" b="0">
                <a:solidFill>
                  <a:srgbClr val="1D3027"/>
                </a:solidFill>
                <a:latin typeface="DM Sans"/>
              </a:rPr>
              <a:t>Bring your draft.</a:t>
            </a:r>
          </a:p>
        </p:txBody>
      </p:sp>
      <p:sp>
        <p:nvSpPr>
          <p:cNvPr id="11" name="TextBox 10"/>
          <p:cNvSpPr txBox="1"/>
          <p:nvPr/>
        </p:nvSpPr>
        <p:spPr>
          <a:xfrm>
            <a:off x="1133475" y="3209925"/>
            <a:ext cx="359092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5C6D63"/>
                </a:solidFill>
                <a:latin typeface="DM Sans"/>
              </a:rPr>
              <a:t>Paste text or upload a document.</a:t>
            </a:r>
          </a:p>
        </p:txBody>
      </p:sp>
      <p:sp>
        <p:nvSpPr>
          <p:cNvPr id="12" name="Rounded Rectangle 11"/>
          <p:cNvSpPr/>
          <p:nvPr/>
        </p:nvSpPr>
        <p:spPr>
          <a:xfrm>
            <a:off x="609600" y="3705224"/>
            <a:ext cx="361950" cy="361950"/>
          </a:xfrm>
          <a:prstGeom prst="roundRect">
            <a:avLst>
              <a:gd name="adj" fmla="val 50000"/>
            </a:avLst>
          </a:prstGeom>
          <a:solidFill>
            <a:srgbClr val="E7EFE9"/>
          </a:solidFill>
          <a:ln>
            <a:noFill/>
          </a:ln>
          <a:effectLst/>
        </p:spPr>
        <p:txBody>
          <a:bodyPr rtlCol="0" anchor="ctr"/>
          <a:lstStyle/>
          <a:p>
            <a:pPr algn="ctr"/>
          </a:p>
        </p:txBody>
      </p:sp>
      <p:sp>
        <p:nvSpPr>
          <p:cNvPr id="13" name="TextBox 12"/>
          <p:cNvSpPr txBox="1"/>
          <p:nvPr/>
        </p:nvSpPr>
        <p:spPr>
          <a:xfrm>
            <a:off x="609600" y="3752850"/>
            <a:ext cx="361950" cy="313943"/>
          </a:xfrm>
          <a:prstGeom prst="rect">
            <a:avLst/>
          </a:prstGeom>
          <a:noFill/>
          <a:effectLst/>
        </p:spPr>
        <p:txBody>
          <a:bodyPr wrap="none" lIns="0" rIns="0" tIns="0" bIns="0" anchor="t">
            <a:spAutoFit/>
          </a:bodyPr>
          <a:lstStyle/>
          <a:p>
            <a:pPr algn="ctr">
              <a:lnSpc>
                <a:spcPct val="118000"/>
              </a:lnSpc>
              <a:spcBef>
                <a:spcPts val="0"/>
              </a:spcBef>
              <a:spcAft>
                <a:spcPts val="0"/>
              </a:spcAft>
            </a:pPr>
            <a:r>
              <a:rPr sz="1650" i="0" b="0">
                <a:solidFill>
                  <a:srgbClr val="245C48"/>
                </a:solidFill>
                <a:latin typeface="DM Sans"/>
              </a:rPr>
              <a:t>2</a:t>
            </a:r>
          </a:p>
        </p:txBody>
      </p:sp>
      <p:sp>
        <p:nvSpPr>
          <p:cNvPr id="14" name="TextBox 13"/>
          <p:cNvSpPr txBox="1"/>
          <p:nvPr/>
        </p:nvSpPr>
        <p:spPr>
          <a:xfrm>
            <a:off x="1133475" y="3695700"/>
            <a:ext cx="3590925" cy="370141"/>
          </a:xfrm>
          <a:prstGeom prst="rect">
            <a:avLst/>
          </a:prstGeom>
          <a:noFill/>
          <a:effectLst/>
        </p:spPr>
        <p:txBody>
          <a:bodyPr wrap="none" lIns="0" rIns="0" tIns="0" bIns="0" anchor="t">
            <a:spAutoFit/>
          </a:bodyPr>
          <a:lstStyle/>
          <a:p>
            <a:pPr algn="l">
              <a:lnSpc>
                <a:spcPct val="118000"/>
              </a:lnSpc>
              <a:spcBef>
                <a:spcPts val="0"/>
              </a:spcBef>
              <a:spcAft>
                <a:spcPts val="0"/>
              </a:spcAft>
            </a:pPr>
            <a:r>
              <a:rPr sz="2025" i="0" b="0">
                <a:solidFill>
                  <a:srgbClr val="1D3027"/>
                </a:solidFill>
                <a:latin typeface="DM Sans"/>
              </a:rPr>
              <a:t>Find or add papers.</a:t>
            </a:r>
          </a:p>
        </p:txBody>
      </p:sp>
      <p:sp>
        <p:nvSpPr>
          <p:cNvPr id="15" name="TextBox 14"/>
          <p:cNvSpPr txBox="1"/>
          <p:nvPr/>
        </p:nvSpPr>
        <p:spPr>
          <a:xfrm>
            <a:off x="1133475" y="4095750"/>
            <a:ext cx="359092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5C6D63"/>
                </a:solidFill>
                <a:latin typeface="DM Sans"/>
              </a:rPr>
              <a:t>Locate eligible academic sources.</a:t>
            </a:r>
          </a:p>
        </p:txBody>
      </p:sp>
      <p:sp>
        <p:nvSpPr>
          <p:cNvPr id="16" name="Rounded Rectangle 15"/>
          <p:cNvSpPr/>
          <p:nvPr/>
        </p:nvSpPr>
        <p:spPr>
          <a:xfrm>
            <a:off x="609600" y="4591050"/>
            <a:ext cx="361950" cy="361950"/>
          </a:xfrm>
          <a:prstGeom prst="roundRect">
            <a:avLst>
              <a:gd name="adj" fmla="val 50000"/>
            </a:avLst>
          </a:prstGeom>
          <a:solidFill>
            <a:srgbClr val="E7EFE9"/>
          </a:solidFill>
          <a:ln>
            <a:noFill/>
          </a:ln>
          <a:effectLst/>
        </p:spPr>
        <p:txBody>
          <a:bodyPr rtlCol="0" anchor="ctr"/>
          <a:lstStyle/>
          <a:p>
            <a:pPr algn="ctr"/>
          </a:p>
        </p:txBody>
      </p:sp>
      <p:sp>
        <p:nvSpPr>
          <p:cNvPr id="17" name="TextBox 16"/>
          <p:cNvSpPr txBox="1"/>
          <p:nvPr/>
        </p:nvSpPr>
        <p:spPr>
          <a:xfrm>
            <a:off x="609600" y="4638675"/>
            <a:ext cx="361950" cy="313943"/>
          </a:xfrm>
          <a:prstGeom prst="rect">
            <a:avLst/>
          </a:prstGeom>
          <a:noFill/>
          <a:effectLst/>
        </p:spPr>
        <p:txBody>
          <a:bodyPr wrap="none" lIns="0" rIns="0" tIns="0" bIns="0" anchor="t">
            <a:spAutoFit/>
          </a:bodyPr>
          <a:lstStyle/>
          <a:p>
            <a:pPr algn="ctr">
              <a:lnSpc>
                <a:spcPct val="118000"/>
              </a:lnSpc>
              <a:spcBef>
                <a:spcPts val="0"/>
              </a:spcBef>
              <a:spcAft>
                <a:spcPts val="0"/>
              </a:spcAft>
            </a:pPr>
            <a:r>
              <a:rPr sz="1650" i="0" b="0">
                <a:solidFill>
                  <a:srgbClr val="245C48"/>
                </a:solidFill>
                <a:latin typeface="DM Sans"/>
              </a:rPr>
              <a:t>3</a:t>
            </a:r>
          </a:p>
        </p:txBody>
      </p:sp>
      <p:sp>
        <p:nvSpPr>
          <p:cNvPr id="18" name="TextBox 17"/>
          <p:cNvSpPr txBox="1"/>
          <p:nvPr/>
        </p:nvSpPr>
        <p:spPr>
          <a:xfrm>
            <a:off x="1133475" y="4581525"/>
            <a:ext cx="3590925" cy="370141"/>
          </a:xfrm>
          <a:prstGeom prst="rect">
            <a:avLst/>
          </a:prstGeom>
          <a:noFill/>
          <a:effectLst/>
        </p:spPr>
        <p:txBody>
          <a:bodyPr wrap="none" lIns="0" rIns="0" tIns="0" bIns="0" anchor="t">
            <a:spAutoFit/>
          </a:bodyPr>
          <a:lstStyle/>
          <a:p>
            <a:pPr algn="l">
              <a:lnSpc>
                <a:spcPct val="118000"/>
              </a:lnSpc>
              <a:spcBef>
                <a:spcPts val="0"/>
              </a:spcBef>
              <a:spcAft>
                <a:spcPts val="0"/>
              </a:spcAft>
            </a:pPr>
            <a:r>
              <a:rPr sz="2025" i="0" b="0">
                <a:solidFill>
                  <a:srgbClr val="1D3027"/>
                </a:solidFill>
                <a:latin typeface="DM Sans"/>
              </a:rPr>
              <a:t>Inspect each finding.</a:t>
            </a:r>
          </a:p>
        </p:txBody>
      </p:sp>
      <p:sp>
        <p:nvSpPr>
          <p:cNvPr id="19" name="TextBox 18"/>
          <p:cNvSpPr txBox="1"/>
          <p:nvPr/>
        </p:nvSpPr>
        <p:spPr>
          <a:xfrm>
            <a:off x="1133475" y="4981575"/>
            <a:ext cx="359092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5C6D63"/>
                </a:solidFill>
                <a:latin typeface="DM Sans"/>
              </a:rPr>
              <a:t>Read the evidence before revising.</a:t>
            </a:r>
          </a:p>
        </p:txBody>
      </p:sp>
      <p:sp>
        <p:nvSpPr>
          <p:cNvPr id="20" name="TextBox 19"/>
          <p:cNvSpPr txBox="1"/>
          <p:nvPr/>
        </p:nvSpPr>
        <p:spPr>
          <a:xfrm>
            <a:off x="5105400" y="2571750"/>
            <a:ext cx="6400800" cy="246507"/>
          </a:xfrm>
          <a:prstGeom prst="rect">
            <a:avLst/>
          </a:prstGeom>
          <a:noFill/>
          <a:effectLst/>
        </p:spPr>
        <p:txBody>
          <a:bodyPr wrap="none" lIns="0" rIns="0" tIns="0" bIns="0" anchor="t">
            <a:spAutoFit/>
          </a:bodyPr>
          <a:lstStyle/>
          <a:p>
            <a:pPr algn="l">
              <a:lnSpc>
                <a:spcPct val="118000"/>
              </a:lnSpc>
              <a:spcBef>
                <a:spcPts val="0"/>
              </a:spcBef>
              <a:spcAft>
                <a:spcPts val="0"/>
              </a:spcAft>
            </a:pPr>
            <a:r>
              <a:rPr sz="1200" i="0" b="0">
                <a:solidFill>
                  <a:srgbClr val="5C6D63"/>
                </a:solidFill>
                <a:latin typeface="DM Sans"/>
              </a:rPr>
              <a:t>Current interface</a:t>
            </a:r>
          </a:p>
        </p:txBody>
      </p:sp>
      <p:pic>
        <p:nvPicPr>
          <p:cNvPr id="21" name="Picture 20" descr="proof-interface.jpg"/>
          <p:cNvPicPr>
            <a:picLocks noChangeAspect="1"/>
          </p:cNvPicPr>
          <p:nvPr/>
        </p:nvPicPr>
        <p:blipFill>
          <a:blip r:embed="rId2"/>
          <a:stretch>
            <a:fillRect/>
          </a:stretch>
        </p:blipFill>
        <p:spPr>
          <a:xfrm>
            <a:off x="5086350" y="2924175"/>
            <a:ext cx="6496050" cy="1547888"/>
          </a:xfrm>
          <a:prstGeom prst="rect">
            <a:avLst/>
          </a:prstGeom>
        </p:spPr>
      </p:pic>
      <p:sp>
        <p:nvSpPr>
          <p:cNvPr id="22" name="Rounded Rectangle 21"/>
          <p:cNvSpPr/>
          <p:nvPr/>
        </p:nvSpPr>
        <p:spPr>
          <a:xfrm>
            <a:off x="5086350" y="4667250"/>
            <a:ext cx="6496050" cy="1171575"/>
          </a:xfrm>
          <a:prstGeom prst="roundRect">
            <a:avLst>
              <a:gd name="adj" fmla="val 13008"/>
            </a:avLst>
          </a:prstGeom>
          <a:solidFill>
            <a:srgbClr val="FFFFFF"/>
          </a:solidFill>
          <a:ln w="9525">
            <a:solidFill>
              <a:srgbClr val="DCE5DF"/>
            </a:solidFill>
          </a:ln>
          <a:effectLst/>
        </p:spPr>
        <p:txBody>
          <a:bodyPr rtlCol="0" anchor="ctr"/>
          <a:lstStyle/>
          <a:p>
            <a:pPr algn="ctr"/>
          </a:p>
        </p:txBody>
      </p:sp>
      <p:sp>
        <p:nvSpPr>
          <p:cNvPr id="23" name="TextBox 22"/>
          <p:cNvSpPr txBox="1"/>
          <p:nvPr/>
        </p:nvSpPr>
        <p:spPr>
          <a:xfrm>
            <a:off x="5324475" y="4857750"/>
            <a:ext cx="3476625" cy="246507"/>
          </a:xfrm>
          <a:prstGeom prst="rect">
            <a:avLst/>
          </a:prstGeom>
          <a:noFill/>
          <a:effectLst/>
        </p:spPr>
        <p:txBody>
          <a:bodyPr wrap="none" lIns="0" rIns="0" tIns="0" bIns="0" anchor="t">
            <a:spAutoFit/>
          </a:bodyPr>
          <a:lstStyle/>
          <a:p>
            <a:pPr algn="l">
              <a:lnSpc>
                <a:spcPct val="118000"/>
              </a:lnSpc>
              <a:spcBef>
                <a:spcPts val="0"/>
              </a:spcBef>
              <a:spcAft>
                <a:spcPts val="0"/>
              </a:spcAft>
            </a:pPr>
            <a:r>
              <a:rPr sz="1200" i="0" b="0">
                <a:solidFill>
                  <a:srgbClr val="5C6D63"/>
                </a:solidFill>
                <a:latin typeface="DM Sans"/>
              </a:rPr>
              <a:t>Illustrative finding</a:t>
            </a:r>
          </a:p>
        </p:txBody>
      </p:sp>
      <p:sp>
        <p:nvSpPr>
          <p:cNvPr id="24" name="Rounded Rectangle 23"/>
          <p:cNvSpPr/>
          <p:nvPr/>
        </p:nvSpPr>
        <p:spPr>
          <a:xfrm>
            <a:off x="9858375" y="4819650"/>
            <a:ext cx="1495425" cy="276225"/>
          </a:xfrm>
          <a:prstGeom prst="roundRect">
            <a:avLst>
              <a:gd name="adj" fmla="val 48275"/>
            </a:avLst>
          </a:prstGeom>
          <a:solidFill>
            <a:srgbClr val="F2E8DB"/>
          </a:solidFill>
          <a:ln>
            <a:noFill/>
          </a:ln>
          <a:effectLst/>
        </p:spPr>
        <p:txBody>
          <a:bodyPr rtlCol="0" anchor="ctr"/>
          <a:lstStyle/>
          <a:p>
            <a:pPr algn="ctr"/>
          </a:p>
        </p:txBody>
      </p:sp>
      <p:sp>
        <p:nvSpPr>
          <p:cNvPr id="25" name="TextBox 24"/>
          <p:cNvSpPr txBox="1"/>
          <p:nvPr/>
        </p:nvSpPr>
        <p:spPr>
          <a:xfrm>
            <a:off x="9925050" y="4867275"/>
            <a:ext cx="1362075" cy="235267"/>
          </a:xfrm>
          <a:prstGeom prst="rect">
            <a:avLst/>
          </a:prstGeom>
          <a:noFill/>
          <a:effectLst/>
        </p:spPr>
        <p:txBody>
          <a:bodyPr wrap="none" lIns="0" rIns="0" tIns="0" bIns="0" anchor="t">
            <a:spAutoFit/>
          </a:bodyPr>
          <a:lstStyle/>
          <a:p>
            <a:pPr algn="ctr">
              <a:lnSpc>
                <a:spcPct val="118000"/>
              </a:lnSpc>
              <a:spcBef>
                <a:spcPts val="0"/>
              </a:spcBef>
              <a:spcAft>
                <a:spcPts val="0"/>
              </a:spcAft>
            </a:pPr>
            <a:r>
              <a:rPr sz="1125" i="0" b="0">
                <a:solidFill>
                  <a:srgbClr val="996A3E"/>
                </a:solidFill>
                <a:latin typeface="DM Sans"/>
              </a:rPr>
              <a:t>Overstated</a:t>
            </a:r>
          </a:p>
        </p:txBody>
      </p:sp>
      <p:sp>
        <p:nvSpPr>
          <p:cNvPr id="26" name="TextBox 25"/>
          <p:cNvSpPr txBox="1"/>
          <p:nvPr/>
        </p:nvSpPr>
        <p:spPr>
          <a:xfrm>
            <a:off x="5324475" y="5257800"/>
            <a:ext cx="6019800" cy="370141"/>
          </a:xfrm>
          <a:prstGeom prst="rect">
            <a:avLst/>
          </a:prstGeom>
          <a:noFill/>
          <a:effectLst/>
        </p:spPr>
        <p:txBody>
          <a:bodyPr wrap="none" lIns="0" rIns="0" tIns="0" bIns="0" anchor="t">
            <a:spAutoFit/>
          </a:bodyPr>
          <a:lstStyle/>
          <a:p>
            <a:pPr algn="l">
              <a:lnSpc>
                <a:spcPct val="118000"/>
              </a:lnSpc>
              <a:spcBef>
                <a:spcPts val="0"/>
              </a:spcBef>
              <a:spcAft>
                <a:spcPts val="0"/>
              </a:spcAft>
            </a:pPr>
            <a:r>
              <a:rPr sz="2025" i="0" b="0">
                <a:solidFill>
                  <a:srgbClr val="1D3027"/>
                </a:solidFill>
                <a:latin typeface="Newsreader"/>
              </a:rPr>
              <a:t>Draft says 2x. Passage says 18% faster.</a:t>
            </a:r>
          </a:p>
        </p:txBody>
      </p:sp>
      <p:sp>
        <p:nvSpPr>
          <p:cNvPr id="27" name="TextBox 26"/>
          <p:cNvSpPr txBox="1"/>
          <p:nvPr/>
        </p:nvSpPr>
        <p:spPr>
          <a:xfrm>
            <a:off x="609600" y="6076950"/>
            <a:ext cx="10972800" cy="257746"/>
          </a:xfrm>
          <a:prstGeom prst="rect">
            <a:avLst/>
          </a:prstGeom>
          <a:noFill/>
          <a:effectLst/>
        </p:spPr>
        <p:txBody>
          <a:bodyPr wrap="none" lIns="0" rIns="0" tIns="0" bIns="0" anchor="t">
            <a:spAutoFit/>
          </a:bodyPr>
          <a:lstStyle/>
          <a:p>
            <a:pPr algn="l">
              <a:lnSpc>
                <a:spcPct val="118000"/>
              </a:lnSpc>
              <a:spcBef>
                <a:spcPts val="0"/>
              </a:spcBef>
              <a:spcAft>
                <a:spcPts val="0"/>
              </a:spcAft>
            </a:pPr>
            <a:r>
              <a:rPr sz="1275" i="0" b="0">
                <a:solidFill>
                  <a:srgbClr val="245C48"/>
                </a:solidFill>
                <a:latin typeface="DM Sans"/>
              </a:rPr>
              <a:t>Live demo next: find a paper, check a claim, inspect the passage.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TextBox 1"/>
          <p:cNvSpPr txBox="1"/>
          <p:nvPr/>
        </p:nvSpPr>
        <p:spPr>
          <a:xfrm>
            <a:off x="609600" y="333375"/>
            <a:ext cx="1428750" cy="437578"/>
          </a:xfrm>
          <a:prstGeom prst="rect">
            <a:avLst/>
          </a:prstGeom>
          <a:noFill/>
          <a:effectLst/>
        </p:spPr>
        <p:txBody>
          <a:bodyPr wrap="none" lIns="0" rIns="0" tIns="0" bIns="0" anchor="t">
            <a:spAutoFit/>
          </a:bodyPr>
          <a:lstStyle/>
          <a:p>
            <a:pPr algn="l">
              <a:lnSpc>
                <a:spcPct val="118000"/>
              </a:lnSpc>
              <a:spcBef>
                <a:spcPts val="0"/>
              </a:spcBef>
              <a:spcAft>
                <a:spcPts val="0"/>
              </a:spcAft>
            </a:pPr>
            <a:r>
              <a:rPr sz="2475" i="0" b="0">
                <a:solidFill>
                  <a:srgbClr val="1D3027"/>
                </a:solidFill>
                <a:latin typeface="Newsreader"/>
              </a:rPr>
              <a:t>proof.</a:t>
            </a:r>
          </a:p>
        </p:txBody>
      </p:sp>
      <p:sp>
        <p:nvSpPr>
          <p:cNvPr id="3" name="TextBox 2"/>
          <p:cNvSpPr txBox="1"/>
          <p:nvPr/>
        </p:nvSpPr>
        <p:spPr>
          <a:xfrm>
            <a:off x="7620000" y="400050"/>
            <a:ext cx="3962399" cy="246507"/>
          </a:xfrm>
          <a:prstGeom prst="rect">
            <a:avLst/>
          </a:prstGeom>
          <a:noFill/>
          <a:effectLst/>
        </p:spPr>
        <p:txBody>
          <a:bodyPr wrap="none" lIns="0" rIns="0" tIns="0" bIns="0" anchor="t">
            <a:spAutoFit/>
          </a:bodyPr>
          <a:lstStyle/>
          <a:p>
            <a:pPr algn="r">
              <a:lnSpc>
                <a:spcPct val="118000"/>
              </a:lnSpc>
              <a:spcBef>
                <a:spcPts val="0"/>
              </a:spcBef>
              <a:spcAft>
                <a:spcPts val="0"/>
              </a:spcAft>
            </a:pPr>
            <a:r>
              <a:rPr sz="1200" i="0" b="0">
                <a:solidFill>
                  <a:srgbClr val="5C6D63"/>
                </a:solidFill>
                <a:latin typeface="DM Sans"/>
              </a:rPr>
              <a:t>Tech stack</a:t>
            </a:r>
          </a:p>
        </p:txBody>
      </p:sp>
      <p:cxnSp>
        <p:nvCxnSpPr>
          <p:cNvPr id="4" name="Connector 3"/>
          <p:cNvCxnSpPr/>
          <p:nvPr/>
        </p:nvCxnSpPr>
        <p:spPr>
          <a:xfrm>
            <a:off x="609600" y="6343650"/>
            <a:ext cx="10972800" cy="0"/>
          </a:xfrm>
          <a:prstGeom prst="line">
            <a:avLst/>
          </a:prstGeom>
          <a:ln w="9525">
            <a:solidFill>
              <a:srgbClr val="DCE5DF"/>
            </a:solidFill>
          </a:ln>
          <a:effectLst/>
        </p:spPr>
      </p:cxnSp>
      <p:sp>
        <p:nvSpPr>
          <p:cNvPr id="5" name="TextBox 4"/>
          <p:cNvSpPr txBox="1"/>
          <p:nvPr/>
        </p:nvSpPr>
        <p:spPr>
          <a:xfrm>
            <a:off x="609600" y="6477000"/>
            <a:ext cx="6191250" cy="212788"/>
          </a:xfrm>
          <a:prstGeom prst="rect">
            <a:avLst/>
          </a:prstGeom>
          <a:noFill/>
          <a:effectLst/>
        </p:spPr>
        <p:txBody>
          <a:bodyPr wrap="none" lIns="0" rIns="0" tIns="0" bIns="0" anchor="t">
            <a:spAutoFit/>
          </a:bodyPr>
          <a:lstStyle/>
          <a:p>
            <a:pPr algn="l">
              <a:lnSpc>
                <a:spcPct val="118000"/>
              </a:lnSpc>
              <a:spcBef>
                <a:spcPts val="0"/>
              </a:spcBef>
              <a:spcAft>
                <a:spcPts val="0"/>
              </a:spcAft>
            </a:pPr>
            <a:r>
              <a:rPr sz="975" i="0" b="0">
                <a:solidFill>
                  <a:srgbClr val="5C6D63"/>
                </a:solidFill>
                <a:latin typeface="DM Sans"/>
              </a:rPr>
              <a:t>Proof · Hackathon pitch · First draft</a:t>
            </a:r>
          </a:p>
        </p:txBody>
      </p:sp>
      <p:sp>
        <p:nvSpPr>
          <p:cNvPr id="6" name="TextBox 5"/>
          <p:cNvSpPr txBox="1"/>
          <p:nvPr/>
        </p:nvSpPr>
        <p:spPr>
          <a:xfrm>
            <a:off x="10191750" y="6477000"/>
            <a:ext cx="139065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5C6D63"/>
                </a:solidFill>
                <a:latin typeface="DM Sans"/>
              </a:rPr>
              <a:t>07 / 08</a:t>
            </a:r>
          </a:p>
        </p:txBody>
      </p:sp>
      <p:sp>
        <p:nvSpPr>
          <p:cNvPr id="7" name="TextBox 6"/>
          <p:cNvSpPr txBox="1"/>
          <p:nvPr/>
        </p:nvSpPr>
        <p:spPr>
          <a:xfrm>
            <a:off x="609600" y="1076325"/>
            <a:ext cx="10972800" cy="1310068"/>
          </a:xfrm>
          <a:prstGeom prst="rect">
            <a:avLst/>
          </a:prstGeom>
          <a:noFill/>
          <a:effectLst/>
        </p:spPr>
        <p:txBody>
          <a:bodyPr wrap="none" lIns="0" rIns="0" tIns="0" bIns="0" anchor="t">
            <a:spAutoFit/>
          </a:bodyPr>
          <a:lstStyle/>
          <a:p>
            <a:pPr algn="l">
              <a:lnSpc>
                <a:spcPct val="107000"/>
              </a:lnSpc>
              <a:spcBef>
                <a:spcPts val="0"/>
              </a:spcBef>
              <a:spcAft>
                <a:spcPts val="0"/>
              </a:spcAft>
            </a:pPr>
            <a:r>
              <a:rPr sz="4575" i="0" b="0">
                <a:solidFill>
                  <a:srgbClr val="1D3027"/>
                </a:solidFill>
                <a:latin typeface="Newsreader"/>
              </a:rPr>
              <a:t>A workflow built around</a:t>
            </a:r>
          </a:p>
          <a:p>
            <a:pPr algn="l">
              <a:lnSpc>
                <a:spcPct val="107000"/>
              </a:lnSpc>
              <a:spcBef>
                <a:spcPts val="0"/>
              </a:spcBef>
              <a:spcAft>
                <a:spcPts val="0"/>
              </a:spcAft>
            </a:pPr>
            <a:r>
              <a:rPr sz="4575" i="0" b="0">
                <a:solidFill>
                  <a:srgbClr val="1D3027"/>
                </a:solidFill>
                <a:latin typeface="Newsreader"/>
              </a:rPr>
              <a:t>the source evidence.</a:t>
            </a:r>
          </a:p>
        </p:txBody>
      </p:sp>
      <p:sp>
        <p:nvSpPr>
          <p:cNvPr id="8" name="Rounded Rectangle 7"/>
          <p:cNvSpPr/>
          <p:nvPr/>
        </p:nvSpPr>
        <p:spPr>
          <a:xfrm>
            <a:off x="609600" y="2676525"/>
            <a:ext cx="2895600" cy="1514475"/>
          </a:xfrm>
          <a:prstGeom prst="roundRect">
            <a:avLst>
              <a:gd name="adj" fmla="val 10062"/>
            </a:avLst>
          </a:prstGeom>
          <a:solidFill>
            <a:srgbClr val="FFFFFF"/>
          </a:solidFill>
          <a:ln w="9525">
            <a:solidFill>
              <a:srgbClr val="DCE5DF"/>
            </a:solidFill>
          </a:ln>
          <a:effectLst/>
        </p:spPr>
        <p:txBody>
          <a:bodyPr rtlCol="0" anchor="ctr"/>
          <a:lstStyle/>
          <a:p>
            <a:pPr algn="ctr"/>
          </a:p>
        </p:txBody>
      </p:sp>
      <p:sp>
        <p:nvSpPr>
          <p:cNvPr id="9" name="TextBox 8"/>
          <p:cNvSpPr txBox="1"/>
          <p:nvPr/>
        </p:nvSpPr>
        <p:spPr>
          <a:xfrm>
            <a:off x="838200" y="2914650"/>
            <a:ext cx="2438400" cy="347662"/>
          </a:xfrm>
          <a:prstGeom prst="rect">
            <a:avLst/>
          </a:prstGeom>
          <a:noFill/>
          <a:effectLst/>
        </p:spPr>
        <p:txBody>
          <a:bodyPr wrap="none" lIns="0" rIns="0" tIns="0" bIns="0" anchor="t">
            <a:spAutoFit/>
          </a:bodyPr>
          <a:lstStyle/>
          <a:p>
            <a:pPr algn="l">
              <a:lnSpc>
                <a:spcPct val="118000"/>
              </a:lnSpc>
              <a:spcBef>
                <a:spcPts val="0"/>
              </a:spcBef>
              <a:spcAft>
                <a:spcPts val="0"/>
              </a:spcAft>
            </a:pPr>
            <a:r>
              <a:rPr sz="1875" i="0" b="0">
                <a:solidFill>
                  <a:srgbClr val="1D3027"/>
                </a:solidFill>
                <a:latin typeface="DM Sans"/>
              </a:rPr>
              <a:t>React + TypeScript</a:t>
            </a:r>
          </a:p>
        </p:txBody>
      </p:sp>
      <p:sp>
        <p:nvSpPr>
          <p:cNvPr id="10" name="TextBox 9"/>
          <p:cNvSpPr txBox="1"/>
          <p:nvPr/>
        </p:nvSpPr>
        <p:spPr>
          <a:xfrm>
            <a:off x="838200" y="3400425"/>
            <a:ext cx="2438400" cy="586740"/>
          </a:xfrm>
          <a:prstGeom prst="rect">
            <a:avLst/>
          </a:prstGeom>
          <a:noFill/>
          <a:effectLst/>
        </p:spPr>
        <p:txBody>
          <a:bodyPr wrap="none" lIns="0" rIns="0" tIns="0" bIns="0" anchor="t">
            <a:spAutoFit/>
          </a:bodyPr>
          <a:lstStyle/>
          <a:p>
            <a:pPr algn="l">
              <a:lnSpc>
                <a:spcPct val="130000"/>
              </a:lnSpc>
              <a:spcBef>
                <a:spcPts val="0"/>
              </a:spcBef>
              <a:spcAft>
                <a:spcPts val="0"/>
              </a:spcAft>
            </a:pPr>
            <a:r>
              <a:rPr sz="1575" i="0" b="0">
                <a:solidFill>
                  <a:srgbClr val="5C6D63"/>
                </a:solidFill>
                <a:latin typeface="DM Sans"/>
              </a:rPr>
              <a:t>Vite</a:t>
            </a:r>
          </a:p>
          <a:p>
            <a:pPr algn="l">
              <a:lnSpc>
                <a:spcPct val="130000"/>
              </a:lnSpc>
              <a:spcBef>
                <a:spcPts val="0"/>
              </a:spcBef>
              <a:spcAft>
                <a:spcPts val="0"/>
              </a:spcAft>
            </a:pPr>
            <a:r>
              <a:rPr sz="1575" i="0" b="0">
                <a:solidFill>
                  <a:srgbClr val="5C6D63"/>
                </a:solidFill>
                <a:latin typeface="DM Sans"/>
              </a:rPr>
              <a:t>Browser draft storage</a:t>
            </a:r>
          </a:p>
        </p:txBody>
      </p:sp>
      <p:sp>
        <p:nvSpPr>
          <p:cNvPr id="11" name="Rounded Rectangle 10"/>
          <p:cNvSpPr/>
          <p:nvPr/>
        </p:nvSpPr>
        <p:spPr>
          <a:xfrm>
            <a:off x="4648200" y="2676525"/>
            <a:ext cx="2895600" cy="1514475"/>
          </a:xfrm>
          <a:prstGeom prst="roundRect">
            <a:avLst>
              <a:gd name="adj" fmla="val 10062"/>
            </a:avLst>
          </a:prstGeom>
          <a:solidFill>
            <a:srgbClr val="FFFFFF"/>
          </a:solidFill>
          <a:ln w="9525">
            <a:solidFill>
              <a:srgbClr val="DCE5DF"/>
            </a:solidFill>
          </a:ln>
          <a:effectLst/>
        </p:spPr>
        <p:txBody>
          <a:bodyPr rtlCol="0" anchor="ctr"/>
          <a:lstStyle/>
          <a:p>
            <a:pPr algn="ctr"/>
          </a:p>
        </p:txBody>
      </p:sp>
      <p:sp>
        <p:nvSpPr>
          <p:cNvPr id="12" name="TextBox 11"/>
          <p:cNvSpPr txBox="1"/>
          <p:nvPr/>
        </p:nvSpPr>
        <p:spPr>
          <a:xfrm>
            <a:off x="4876800" y="2914650"/>
            <a:ext cx="2438400" cy="347662"/>
          </a:xfrm>
          <a:prstGeom prst="rect">
            <a:avLst/>
          </a:prstGeom>
          <a:noFill/>
          <a:effectLst/>
        </p:spPr>
        <p:txBody>
          <a:bodyPr wrap="none" lIns="0" rIns="0" tIns="0" bIns="0" anchor="t">
            <a:spAutoFit/>
          </a:bodyPr>
          <a:lstStyle/>
          <a:p>
            <a:pPr algn="l">
              <a:lnSpc>
                <a:spcPct val="118000"/>
              </a:lnSpc>
              <a:spcBef>
                <a:spcPts val="0"/>
              </a:spcBef>
              <a:spcAft>
                <a:spcPts val="0"/>
              </a:spcAft>
            </a:pPr>
            <a:r>
              <a:rPr sz="1875" i="0" b="0">
                <a:solidFill>
                  <a:srgbClr val="1D3027"/>
                </a:solidFill>
                <a:latin typeface="DM Sans"/>
              </a:rPr>
              <a:t>Node.js + Express</a:t>
            </a:r>
          </a:p>
        </p:txBody>
      </p:sp>
      <p:sp>
        <p:nvSpPr>
          <p:cNvPr id="13" name="TextBox 12"/>
          <p:cNvSpPr txBox="1"/>
          <p:nvPr/>
        </p:nvSpPr>
        <p:spPr>
          <a:xfrm>
            <a:off x="4876800" y="3400425"/>
            <a:ext cx="2438400" cy="586740"/>
          </a:xfrm>
          <a:prstGeom prst="rect">
            <a:avLst/>
          </a:prstGeom>
          <a:noFill/>
          <a:effectLst/>
        </p:spPr>
        <p:txBody>
          <a:bodyPr wrap="none" lIns="0" rIns="0" tIns="0" bIns="0" anchor="t">
            <a:spAutoFit/>
          </a:bodyPr>
          <a:lstStyle/>
          <a:p>
            <a:pPr algn="l">
              <a:lnSpc>
                <a:spcPct val="130000"/>
              </a:lnSpc>
              <a:spcBef>
                <a:spcPts val="0"/>
              </a:spcBef>
              <a:spcAft>
                <a:spcPts val="0"/>
              </a:spcAft>
            </a:pPr>
            <a:r>
              <a:rPr sz="1575" i="0" b="0">
                <a:solidFill>
                  <a:srgbClr val="5C6D63"/>
                </a:solidFill>
                <a:latin typeface="DM Sans"/>
              </a:rPr>
              <a:t>PDF / DOCX parsing</a:t>
            </a:r>
          </a:p>
          <a:p>
            <a:pPr algn="l">
              <a:lnSpc>
                <a:spcPct val="130000"/>
              </a:lnSpc>
              <a:spcBef>
                <a:spcPts val="0"/>
              </a:spcBef>
              <a:spcAft>
                <a:spcPts val="0"/>
              </a:spcAft>
            </a:pPr>
            <a:r>
              <a:rPr sz="1575" i="0" b="0">
                <a:solidFill>
                  <a:srgbClr val="5C6D63"/>
                </a:solidFill>
                <a:latin typeface="DM Sans"/>
              </a:rPr>
              <a:t>Review jobs and sessions</a:t>
            </a:r>
          </a:p>
        </p:txBody>
      </p:sp>
      <p:sp>
        <p:nvSpPr>
          <p:cNvPr id="14" name="Rounded Rectangle 13"/>
          <p:cNvSpPr/>
          <p:nvPr/>
        </p:nvSpPr>
        <p:spPr>
          <a:xfrm>
            <a:off x="8686800" y="2676525"/>
            <a:ext cx="2895600" cy="1514475"/>
          </a:xfrm>
          <a:prstGeom prst="roundRect">
            <a:avLst>
              <a:gd name="adj" fmla="val 10062"/>
            </a:avLst>
          </a:prstGeom>
          <a:solidFill>
            <a:srgbClr val="FFFFFF"/>
          </a:solidFill>
          <a:ln w="9525">
            <a:solidFill>
              <a:srgbClr val="DCE5DF"/>
            </a:solidFill>
          </a:ln>
          <a:effectLst/>
        </p:spPr>
        <p:txBody>
          <a:bodyPr rtlCol="0" anchor="ctr"/>
          <a:lstStyle/>
          <a:p>
            <a:pPr algn="ctr"/>
          </a:p>
        </p:txBody>
      </p:sp>
      <p:sp>
        <p:nvSpPr>
          <p:cNvPr id="15" name="TextBox 14"/>
          <p:cNvSpPr txBox="1"/>
          <p:nvPr/>
        </p:nvSpPr>
        <p:spPr>
          <a:xfrm>
            <a:off x="8915400" y="2914650"/>
            <a:ext cx="2438400" cy="347662"/>
          </a:xfrm>
          <a:prstGeom prst="rect">
            <a:avLst/>
          </a:prstGeom>
          <a:noFill/>
          <a:effectLst/>
        </p:spPr>
        <p:txBody>
          <a:bodyPr wrap="none" lIns="0" rIns="0" tIns="0" bIns="0" anchor="t">
            <a:spAutoFit/>
          </a:bodyPr>
          <a:lstStyle/>
          <a:p>
            <a:pPr algn="l">
              <a:lnSpc>
                <a:spcPct val="118000"/>
              </a:lnSpc>
              <a:spcBef>
                <a:spcPts val="0"/>
              </a:spcBef>
              <a:spcAft>
                <a:spcPts val="0"/>
              </a:spcAft>
            </a:pPr>
            <a:r>
              <a:rPr sz="1875" i="0" b="0">
                <a:solidFill>
                  <a:srgbClr val="1D3027"/>
                </a:solidFill>
                <a:latin typeface="DM Sans"/>
              </a:rPr>
              <a:t>Jev / TypeSafe</a:t>
            </a:r>
          </a:p>
        </p:txBody>
      </p:sp>
      <p:sp>
        <p:nvSpPr>
          <p:cNvPr id="16" name="TextBox 15"/>
          <p:cNvSpPr txBox="1"/>
          <p:nvPr/>
        </p:nvSpPr>
        <p:spPr>
          <a:xfrm>
            <a:off x="8915400" y="3400425"/>
            <a:ext cx="2438400" cy="586740"/>
          </a:xfrm>
          <a:prstGeom prst="rect">
            <a:avLst/>
          </a:prstGeom>
          <a:noFill/>
          <a:effectLst/>
        </p:spPr>
        <p:txBody>
          <a:bodyPr wrap="none" lIns="0" rIns="0" tIns="0" bIns="0" anchor="t">
            <a:spAutoFit/>
          </a:bodyPr>
          <a:lstStyle/>
          <a:p>
            <a:pPr algn="l">
              <a:lnSpc>
                <a:spcPct val="130000"/>
              </a:lnSpc>
              <a:spcBef>
                <a:spcPts val="0"/>
              </a:spcBef>
              <a:spcAft>
                <a:spcPts val="0"/>
              </a:spcAft>
            </a:pPr>
            <a:r>
              <a:rPr sz="1575" i="0" b="0">
                <a:solidFill>
                  <a:srgbClr val="5C6D63"/>
                </a:solidFill>
                <a:latin typeface="DM Sans"/>
              </a:rPr>
              <a:t>Typed judgments</a:t>
            </a:r>
          </a:p>
          <a:p>
            <a:pPr algn="l">
              <a:lnSpc>
                <a:spcPct val="130000"/>
              </a:lnSpc>
              <a:spcBef>
                <a:spcPts val="0"/>
              </a:spcBef>
              <a:spcAft>
                <a:spcPts val="0"/>
              </a:spcAft>
            </a:pPr>
            <a:r>
              <a:rPr sz="1575" i="0" b="0">
                <a:solidFill>
                  <a:srgbClr val="5C6D63"/>
                </a:solidFill>
                <a:latin typeface="DM Sans"/>
              </a:rPr>
              <a:t>Claims against passages</a:t>
            </a:r>
          </a:p>
        </p:txBody>
      </p:sp>
      <p:cxnSp>
        <p:nvCxnSpPr>
          <p:cNvPr id="17" name="Connector 16"/>
          <p:cNvCxnSpPr/>
          <p:nvPr/>
        </p:nvCxnSpPr>
        <p:spPr>
          <a:xfrm>
            <a:off x="3657600" y="3438525"/>
            <a:ext cx="838200" cy="0"/>
          </a:xfrm>
          <a:prstGeom prst="line">
            <a:avLst/>
          </a:prstGeom>
          <a:ln w="19050">
            <a:solidFill>
              <a:srgbClr val="245C48"/>
            </a:solidFill>
          </a:ln>
          <a:effectLst/>
        </p:spPr>
      </p:cxnSp>
      <p:cxnSp>
        <p:nvCxnSpPr>
          <p:cNvPr id="18" name="Connector 17"/>
          <p:cNvCxnSpPr/>
          <p:nvPr/>
        </p:nvCxnSpPr>
        <p:spPr>
          <a:xfrm flipH="1">
            <a:off x="4403851" y="3438525"/>
            <a:ext cx="91949" cy="50231"/>
          </a:xfrm>
          <a:prstGeom prst="line">
            <a:avLst/>
          </a:prstGeom>
          <a:ln w="19050">
            <a:solidFill>
              <a:srgbClr val="245C48"/>
            </a:solidFill>
          </a:ln>
          <a:effectLst/>
        </p:spPr>
      </p:cxnSp>
      <p:cxnSp>
        <p:nvCxnSpPr>
          <p:cNvPr id="19" name="Connector 18"/>
          <p:cNvCxnSpPr/>
          <p:nvPr/>
        </p:nvCxnSpPr>
        <p:spPr>
          <a:xfrm flipH="1" flipV="1">
            <a:off x="4403851" y="3388293"/>
            <a:ext cx="91949" cy="50232"/>
          </a:xfrm>
          <a:prstGeom prst="line">
            <a:avLst/>
          </a:prstGeom>
          <a:ln w="19050">
            <a:solidFill>
              <a:srgbClr val="245C48"/>
            </a:solidFill>
          </a:ln>
          <a:effectLst/>
        </p:spPr>
      </p:cxnSp>
      <p:cxnSp>
        <p:nvCxnSpPr>
          <p:cNvPr id="20" name="Connector 19"/>
          <p:cNvCxnSpPr/>
          <p:nvPr/>
        </p:nvCxnSpPr>
        <p:spPr>
          <a:xfrm>
            <a:off x="7696199" y="3438525"/>
            <a:ext cx="838201" cy="0"/>
          </a:xfrm>
          <a:prstGeom prst="line">
            <a:avLst/>
          </a:prstGeom>
          <a:ln w="19050">
            <a:solidFill>
              <a:srgbClr val="245C48"/>
            </a:solidFill>
          </a:ln>
          <a:effectLst/>
        </p:spPr>
      </p:cxnSp>
      <p:cxnSp>
        <p:nvCxnSpPr>
          <p:cNvPr id="21" name="Connector 20"/>
          <p:cNvCxnSpPr/>
          <p:nvPr/>
        </p:nvCxnSpPr>
        <p:spPr>
          <a:xfrm flipH="1">
            <a:off x="8442451" y="3438525"/>
            <a:ext cx="91949" cy="50231"/>
          </a:xfrm>
          <a:prstGeom prst="line">
            <a:avLst/>
          </a:prstGeom>
          <a:ln w="19050">
            <a:solidFill>
              <a:srgbClr val="245C48"/>
            </a:solidFill>
          </a:ln>
          <a:effectLst/>
        </p:spPr>
      </p:cxnSp>
      <p:cxnSp>
        <p:nvCxnSpPr>
          <p:cNvPr id="22" name="Connector 21"/>
          <p:cNvCxnSpPr/>
          <p:nvPr/>
        </p:nvCxnSpPr>
        <p:spPr>
          <a:xfrm flipH="1" flipV="1">
            <a:off x="8442451" y="3388293"/>
            <a:ext cx="91949" cy="50232"/>
          </a:xfrm>
          <a:prstGeom prst="line">
            <a:avLst/>
          </a:prstGeom>
          <a:ln w="19050">
            <a:solidFill>
              <a:srgbClr val="245C48"/>
            </a:solidFill>
          </a:ln>
          <a:effectLst/>
        </p:spPr>
      </p:cxnSp>
      <p:sp>
        <p:nvSpPr>
          <p:cNvPr id="23" name="Rounded Rectangle 22"/>
          <p:cNvSpPr/>
          <p:nvPr/>
        </p:nvSpPr>
        <p:spPr>
          <a:xfrm>
            <a:off x="4648200" y="4572000"/>
            <a:ext cx="6934200" cy="819150"/>
          </a:xfrm>
          <a:prstGeom prst="roundRect">
            <a:avLst>
              <a:gd name="adj" fmla="val 18604"/>
            </a:avLst>
          </a:prstGeom>
          <a:solidFill>
            <a:srgbClr val="E7EFE9"/>
          </a:solidFill>
          <a:ln>
            <a:noFill/>
          </a:ln>
          <a:effectLst/>
        </p:spPr>
        <p:txBody>
          <a:bodyPr rtlCol="0" anchor="ctr"/>
          <a:lstStyle/>
          <a:p>
            <a:pPr algn="ctr"/>
          </a:p>
        </p:txBody>
      </p:sp>
      <p:sp>
        <p:nvSpPr>
          <p:cNvPr id="24" name="TextBox 23"/>
          <p:cNvSpPr txBox="1"/>
          <p:nvPr/>
        </p:nvSpPr>
        <p:spPr>
          <a:xfrm>
            <a:off x="4876800" y="4695825"/>
            <a:ext cx="6477000" cy="257746"/>
          </a:xfrm>
          <a:prstGeom prst="rect">
            <a:avLst/>
          </a:prstGeom>
          <a:noFill/>
          <a:effectLst/>
        </p:spPr>
        <p:txBody>
          <a:bodyPr wrap="none" lIns="0" rIns="0" tIns="0" bIns="0" anchor="t">
            <a:spAutoFit/>
          </a:bodyPr>
          <a:lstStyle/>
          <a:p>
            <a:pPr algn="l">
              <a:lnSpc>
                <a:spcPct val="118000"/>
              </a:lnSpc>
              <a:spcBef>
                <a:spcPts val="0"/>
              </a:spcBef>
              <a:spcAft>
                <a:spcPts val="0"/>
              </a:spcAft>
            </a:pPr>
            <a:r>
              <a:rPr sz="1275" i="0" b="0">
                <a:solidFill>
                  <a:srgbClr val="245C48"/>
                </a:solidFill>
                <a:latin typeface="DM Sans"/>
              </a:rPr>
              <a:t>Academic data and source checks</a:t>
            </a:r>
          </a:p>
        </p:txBody>
      </p:sp>
      <p:sp>
        <p:nvSpPr>
          <p:cNvPr id="25" name="TextBox 24"/>
          <p:cNvSpPr txBox="1"/>
          <p:nvPr/>
        </p:nvSpPr>
        <p:spPr>
          <a:xfrm>
            <a:off x="4876800" y="5010150"/>
            <a:ext cx="6477000" cy="325183"/>
          </a:xfrm>
          <a:prstGeom prst="rect">
            <a:avLst/>
          </a:prstGeom>
          <a:noFill/>
          <a:effectLst/>
        </p:spPr>
        <p:txBody>
          <a:bodyPr wrap="none" lIns="0" rIns="0" tIns="0" bIns="0" anchor="t">
            <a:spAutoFit/>
          </a:bodyPr>
          <a:lstStyle/>
          <a:p>
            <a:pPr algn="l">
              <a:lnSpc>
                <a:spcPct val="118000"/>
              </a:lnSpc>
              <a:spcBef>
                <a:spcPts val="0"/>
              </a:spcBef>
              <a:spcAft>
                <a:spcPts val="0"/>
              </a:spcAft>
            </a:pPr>
            <a:r>
              <a:rPr sz="1725" i="0" b="0">
                <a:solidFill>
                  <a:srgbClr val="1D3027"/>
                </a:solidFill>
                <a:latin typeface="DM Sans"/>
              </a:rPr>
              <a:t>OpenAlex · Crossref · DOAJ · Europe PMC</a:t>
            </a:r>
          </a:p>
        </p:txBody>
      </p:sp>
      <p:cxnSp>
        <p:nvCxnSpPr>
          <p:cNvPr id="26" name="Connector 25"/>
          <p:cNvCxnSpPr/>
          <p:nvPr/>
        </p:nvCxnSpPr>
        <p:spPr>
          <a:xfrm flipV="1">
            <a:off x="6105525" y="4210050"/>
            <a:ext cx="0" cy="333375"/>
          </a:xfrm>
          <a:prstGeom prst="line">
            <a:avLst/>
          </a:prstGeom>
          <a:ln w="19050">
            <a:solidFill>
              <a:srgbClr val="245C48"/>
            </a:solidFill>
          </a:ln>
          <a:effectLst/>
        </p:spPr>
      </p:cxnSp>
      <p:cxnSp>
        <p:nvCxnSpPr>
          <p:cNvPr id="27" name="Connector 26"/>
          <p:cNvCxnSpPr/>
          <p:nvPr/>
        </p:nvCxnSpPr>
        <p:spPr>
          <a:xfrm>
            <a:off x="6105525" y="4210050"/>
            <a:ext cx="50231" cy="91948"/>
          </a:xfrm>
          <a:prstGeom prst="line">
            <a:avLst/>
          </a:prstGeom>
          <a:ln w="19050">
            <a:solidFill>
              <a:srgbClr val="245C48"/>
            </a:solidFill>
          </a:ln>
          <a:effectLst/>
        </p:spPr>
      </p:cxnSp>
      <p:cxnSp>
        <p:nvCxnSpPr>
          <p:cNvPr id="28" name="Connector 27"/>
          <p:cNvCxnSpPr/>
          <p:nvPr/>
        </p:nvCxnSpPr>
        <p:spPr>
          <a:xfrm flipH="1">
            <a:off x="6055293" y="4210050"/>
            <a:ext cx="50232" cy="91948"/>
          </a:xfrm>
          <a:prstGeom prst="line">
            <a:avLst/>
          </a:prstGeom>
          <a:ln w="19050">
            <a:solidFill>
              <a:srgbClr val="245C48"/>
            </a:solidFill>
          </a:ln>
          <a:effectLst/>
        </p:spPr>
      </p:cxnSp>
      <p:sp>
        <p:nvSpPr>
          <p:cNvPr id="29" name="Rounded Rectangle 28"/>
          <p:cNvSpPr/>
          <p:nvPr/>
        </p:nvSpPr>
        <p:spPr>
          <a:xfrm>
            <a:off x="609600" y="5695950"/>
            <a:ext cx="10972800" cy="400050"/>
          </a:xfrm>
          <a:prstGeom prst="roundRect">
            <a:avLst>
              <a:gd name="adj" fmla="val 23809"/>
            </a:avLst>
          </a:prstGeom>
          <a:solidFill>
            <a:srgbClr val="245C48"/>
          </a:solidFill>
          <a:ln>
            <a:noFill/>
          </a:ln>
          <a:effectLst/>
        </p:spPr>
        <p:txBody>
          <a:bodyPr rtlCol="0" anchor="ctr"/>
          <a:lstStyle/>
          <a:p>
            <a:pPr algn="ctr"/>
          </a:p>
        </p:txBody>
      </p:sp>
      <p:sp>
        <p:nvSpPr>
          <p:cNvPr id="30" name="TextBox 29"/>
          <p:cNvSpPr txBox="1"/>
          <p:nvPr/>
        </p:nvSpPr>
        <p:spPr>
          <a:xfrm>
            <a:off x="790575" y="5781675"/>
            <a:ext cx="10610850" cy="291465"/>
          </a:xfrm>
          <a:prstGeom prst="rect">
            <a:avLst/>
          </a:prstGeom>
          <a:noFill/>
          <a:effectLst/>
        </p:spPr>
        <p:txBody>
          <a:bodyPr wrap="none" lIns="0" rIns="0" tIns="0" bIns="0" anchor="t">
            <a:spAutoFit/>
          </a:bodyPr>
          <a:lstStyle/>
          <a:p>
            <a:pPr algn="l">
              <a:lnSpc>
                <a:spcPct val="118000"/>
              </a:lnSpc>
              <a:spcBef>
                <a:spcPts val="0"/>
              </a:spcBef>
              <a:spcAft>
                <a:spcPts val="0"/>
              </a:spcAft>
            </a:pPr>
            <a:r>
              <a:rPr sz="1500" i="0" b="0">
                <a:solidFill>
                  <a:srgbClr val="FFFFFF"/>
                </a:solidFill>
                <a:latin typeface="DM Sans"/>
              </a:rPr>
              <a:t>Missing or conflicting evidence stays unverified.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TextBox 1"/>
          <p:cNvSpPr txBox="1"/>
          <p:nvPr/>
        </p:nvSpPr>
        <p:spPr>
          <a:xfrm>
            <a:off x="609600" y="333375"/>
            <a:ext cx="1428750" cy="437578"/>
          </a:xfrm>
          <a:prstGeom prst="rect">
            <a:avLst/>
          </a:prstGeom>
          <a:noFill/>
          <a:effectLst/>
        </p:spPr>
        <p:txBody>
          <a:bodyPr wrap="none" lIns="0" rIns="0" tIns="0" bIns="0" anchor="t">
            <a:spAutoFit/>
          </a:bodyPr>
          <a:lstStyle/>
          <a:p>
            <a:pPr algn="l">
              <a:lnSpc>
                <a:spcPct val="118000"/>
              </a:lnSpc>
              <a:spcBef>
                <a:spcPts val="0"/>
              </a:spcBef>
              <a:spcAft>
                <a:spcPts val="0"/>
              </a:spcAft>
            </a:pPr>
            <a:r>
              <a:rPr sz="2475" i="0" b="0">
                <a:solidFill>
                  <a:srgbClr val="1D3027"/>
                </a:solidFill>
                <a:latin typeface="Newsreader"/>
              </a:rPr>
              <a:t>proof.</a:t>
            </a:r>
          </a:p>
        </p:txBody>
      </p:sp>
      <p:sp>
        <p:nvSpPr>
          <p:cNvPr id="3" name="TextBox 2"/>
          <p:cNvSpPr txBox="1"/>
          <p:nvPr/>
        </p:nvSpPr>
        <p:spPr>
          <a:xfrm>
            <a:off x="7620000" y="400050"/>
            <a:ext cx="3962399" cy="246507"/>
          </a:xfrm>
          <a:prstGeom prst="rect">
            <a:avLst/>
          </a:prstGeom>
          <a:noFill/>
          <a:effectLst/>
        </p:spPr>
        <p:txBody>
          <a:bodyPr wrap="none" lIns="0" rIns="0" tIns="0" bIns="0" anchor="t">
            <a:spAutoFit/>
          </a:bodyPr>
          <a:lstStyle/>
          <a:p>
            <a:pPr algn="r">
              <a:lnSpc>
                <a:spcPct val="118000"/>
              </a:lnSpc>
              <a:spcBef>
                <a:spcPts val="0"/>
              </a:spcBef>
              <a:spcAft>
                <a:spcPts val="0"/>
              </a:spcAft>
            </a:pPr>
            <a:r>
              <a:rPr sz="1200" i="0" b="0">
                <a:solidFill>
                  <a:srgbClr val="5C6D63"/>
                </a:solidFill>
                <a:latin typeface="DM Sans"/>
              </a:rPr>
              <a:t>Design system</a:t>
            </a:r>
          </a:p>
        </p:txBody>
      </p:sp>
      <p:cxnSp>
        <p:nvCxnSpPr>
          <p:cNvPr id="4" name="Connector 3"/>
          <p:cNvCxnSpPr/>
          <p:nvPr/>
        </p:nvCxnSpPr>
        <p:spPr>
          <a:xfrm>
            <a:off x="609600" y="6343650"/>
            <a:ext cx="10972800" cy="0"/>
          </a:xfrm>
          <a:prstGeom prst="line">
            <a:avLst/>
          </a:prstGeom>
          <a:ln w="9525">
            <a:solidFill>
              <a:srgbClr val="DCE5DF"/>
            </a:solidFill>
          </a:ln>
          <a:effectLst/>
        </p:spPr>
      </p:cxnSp>
      <p:sp>
        <p:nvSpPr>
          <p:cNvPr id="5" name="TextBox 4"/>
          <p:cNvSpPr txBox="1"/>
          <p:nvPr/>
        </p:nvSpPr>
        <p:spPr>
          <a:xfrm>
            <a:off x="609600" y="6477000"/>
            <a:ext cx="6191250" cy="212788"/>
          </a:xfrm>
          <a:prstGeom prst="rect">
            <a:avLst/>
          </a:prstGeom>
          <a:noFill/>
          <a:effectLst/>
        </p:spPr>
        <p:txBody>
          <a:bodyPr wrap="none" lIns="0" rIns="0" tIns="0" bIns="0" anchor="t">
            <a:spAutoFit/>
          </a:bodyPr>
          <a:lstStyle/>
          <a:p>
            <a:pPr algn="l">
              <a:lnSpc>
                <a:spcPct val="118000"/>
              </a:lnSpc>
              <a:spcBef>
                <a:spcPts val="0"/>
              </a:spcBef>
              <a:spcAft>
                <a:spcPts val="0"/>
              </a:spcAft>
            </a:pPr>
            <a:r>
              <a:rPr sz="975" i="0" b="0">
                <a:solidFill>
                  <a:srgbClr val="5C6D63"/>
                </a:solidFill>
                <a:latin typeface="DM Sans"/>
              </a:rPr>
              <a:t>Proof · Hackathon pitch · First draft</a:t>
            </a:r>
          </a:p>
        </p:txBody>
      </p:sp>
      <p:sp>
        <p:nvSpPr>
          <p:cNvPr id="6" name="TextBox 5"/>
          <p:cNvSpPr txBox="1"/>
          <p:nvPr/>
        </p:nvSpPr>
        <p:spPr>
          <a:xfrm>
            <a:off x="10191750" y="6477000"/>
            <a:ext cx="1390650" cy="212788"/>
          </a:xfrm>
          <a:prstGeom prst="rect">
            <a:avLst/>
          </a:prstGeom>
          <a:noFill/>
          <a:effectLst/>
        </p:spPr>
        <p:txBody>
          <a:bodyPr wrap="none" lIns="0" rIns="0" tIns="0" bIns="0" anchor="t">
            <a:spAutoFit/>
          </a:bodyPr>
          <a:lstStyle/>
          <a:p>
            <a:pPr algn="r">
              <a:lnSpc>
                <a:spcPct val="118000"/>
              </a:lnSpc>
              <a:spcBef>
                <a:spcPts val="0"/>
              </a:spcBef>
              <a:spcAft>
                <a:spcPts val="0"/>
              </a:spcAft>
            </a:pPr>
            <a:r>
              <a:rPr sz="975" i="0" b="0">
                <a:solidFill>
                  <a:srgbClr val="5C6D63"/>
                </a:solidFill>
                <a:latin typeface="DM Sans"/>
              </a:rPr>
              <a:t>08 / 08</a:t>
            </a:r>
          </a:p>
        </p:txBody>
      </p:sp>
      <p:sp>
        <p:nvSpPr>
          <p:cNvPr id="7" name="TextBox 6"/>
          <p:cNvSpPr txBox="1"/>
          <p:nvPr/>
        </p:nvSpPr>
        <p:spPr>
          <a:xfrm>
            <a:off x="609600" y="1076325"/>
            <a:ext cx="6172200" cy="1338834"/>
          </a:xfrm>
          <a:prstGeom prst="rect">
            <a:avLst/>
          </a:prstGeom>
          <a:noFill/>
          <a:effectLst/>
        </p:spPr>
        <p:txBody>
          <a:bodyPr wrap="none" lIns="0" rIns="0" tIns="0" bIns="0" anchor="t">
            <a:spAutoFit/>
          </a:bodyPr>
          <a:lstStyle/>
          <a:p>
            <a:pPr algn="l">
              <a:lnSpc>
                <a:spcPct val="106000"/>
              </a:lnSpc>
              <a:spcBef>
                <a:spcPts val="0"/>
              </a:spcBef>
              <a:spcAft>
                <a:spcPts val="0"/>
              </a:spcAft>
            </a:pPr>
            <a:r>
              <a:rPr sz="4725" i="0" b="0">
                <a:solidFill>
                  <a:srgbClr val="1D3027"/>
                </a:solidFill>
                <a:latin typeface="Newsreader"/>
              </a:rPr>
              <a:t>Trust starts with</a:t>
            </a:r>
          </a:p>
          <a:p>
            <a:pPr algn="l">
              <a:lnSpc>
                <a:spcPct val="106000"/>
              </a:lnSpc>
              <a:spcBef>
                <a:spcPts val="0"/>
              </a:spcBef>
              <a:spcAft>
                <a:spcPts val="0"/>
              </a:spcAft>
            </a:pPr>
            <a:r>
              <a:rPr sz="4725" i="0" b="0">
                <a:solidFill>
                  <a:srgbClr val="1D3027"/>
                </a:solidFill>
                <a:latin typeface="Newsreader"/>
              </a:rPr>
              <a:t>what you can inspect.</a:t>
            </a:r>
          </a:p>
        </p:txBody>
      </p:sp>
      <p:sp>
        <p:nvSpPr>
          <p:cNvPr id="8" name="TextBox 7"/>
          <p:cNvSpPr txBox="1"/>
          <p:nvPr/>
        </p:nvSpPr>
        <p:spPr>
          <a:xfrm>
            <a:off x="609600" y="2981325"/>
            <a:ext cx="2076450" cy="1190625"/>
          </a:xfrm>
          <a:prstGeom prst="rect">
            <a:avLst/>
          </a:prstGeom>
          <a:noFill/>
          <a:effectLst/>
        </p:spPr>
        <p:txBody>
          <a:bodyPr wrap="none" lIns="0" rIns="0" tIns="0" bIns="0" anchor="t">
            <a:spAutoFit/>
          </a:bodyPr>
          <a:lstStyle/>
          <a:p>
            <a:pPr algn="l">
              <a:lnSpc>
                <a:spcPct val="118000"/>
              </a:lnSpc>
              <a:spcBef>
                <a:spcPts val="0"/>
              </a:spcBef>
              <a:spcAft>
                <a:spcPts val="0"/>
              </a:spcAft>
            </a:pPr>
            <a:r>
              <a:rPr sz="7875" i="0" b="0">
                <a:solidFill>
                  <a:srgbClr val="1D3027"/>
                </a:solidFill>
                <a:latin typeface="Newsreader"/>
              </a:rPr>
              <a:t>Aa</a:t>
            </a:r>
          </a:p>
        </p:txBody>
      </p:sp>
      <p:sp>
        <p:nvSpPr>
          <p:cNvPr id="9" name="TextBox 8"/>
          <p:cNvSpPr txBox="1"/>
          <p:nvPr/>
        </p:nvSpPr>
        <p:spPr>
          <a:xfrm>
            <a:off x="3124200" y="2981325"/>
            <a:ext cx="2085975" cy="1190625"/>
          </a:xfrm>
          <a:prstGeom prst="rect">
            <a:avLst/>
          </a:prstGeom>
          <a:noFill/>
          <a:effectLst/>
        </p:spPr>
        <p:txBody>
          <a:bodyPr wrap="none" lIns="0" rIns="0" tIns="0" bIns="0" anchor="t">
            <a:spAutoFit/>
          </a:bodyPr>
          <a:lstStyle/>
          <a:p>
            <a:pPr algn="l">
              <a:lnSpc>
                <a:spcPct val="118000"/>
              </a:lnSpc>
              <a:spcBef>
                <a:spcPts val="0"/>
              </a:spcBef>
              <a:spcAft>
                <a:spcPts val="0"/>
              </a:spcAft>
            </a:pPr>
            <a:r>
              <a:rPr sz="7875" i="0" b="0">
                <a:solidFill>
                  <a:srgbClr val="1D3027"/>
                </a:solidFill>
                <a:latin typeface="DM Sans"/>
              </a:rPr>
              <a:t>Aa</a:t>
            </a:r>
          </a:p>
        </p:txBody>
      </p:sp>
      <p:sp>
        <p:nvSpPr>
          <p:cNvPr id="10" name="TextBox 9"/>
          <p:cNvSpPr txBox="1"/>
          <p:nvPr/>
        </p:nvSpPr>
        <p:spPr>
          <a:xfrm>
            <a:off x="647700" y="4305300"/>
            <a:ext cx="2133600" cy="336423"/>
          </a:xfrm>
          <a:prstGeom prst="rect">
            <a:avLst/>
          </a:prstGeom>
          <a:noFill/>
          <a:effectLst/>
        </p:spPr>
        <p:txBody>
          <a:bodyPr wrap="none" lIns="0" rIns="0" tIns="0" bIns="0" anchor="t">
            <a:spAutoFit/>
          </a:bodyPr>
          <a:lstStyle/>
          <a:p>
            <a:pPr algn="l">
              <a:lnSpc>
                <a:spcPct val="118000"/>
              </a:lnSpc>
              <a:spcBef>
                <a:spcPts val="0"/>
              </a:spcBef>
              <a:spcAft>
                <a:spcPts val="0"/>
              </a:spcAft>
            </a:pPr>
            <a:r>
              <a:rPr sz="1800" i="0" b="0">
                <a:solidFill>
                  <a:srgbClr val="1D3027"/>
                </a:solidFill>
                <a:latin typeface="DM Sans"/>
              </a:rPr>
              <a:t>Newsreader</a:t>
            </a:r>
          </a:p>
        </p:txBody>
      </p:sp>
      <p:sp>
        <p:nvSpPr>
          <p:cNvPr id="11" name="TextBox 10"/>
          <p:cNvSpPr txBox="1"/>
          <p:nvPr/>
        </p:nvSpPr>
        <p:spPr>
          <a:xfrm>
            <a:off x="647700" y="4676775"/>
            <a:ext cx="2390775" cy="268985"/>
          </a:xfrm>
          <a:prstGeom prst="rect">
            <a:avLst/>
          </a:prstGeom>
          <a:noFill/>
          <a:effectLst/>
        </p:spPr>
        <p:txBody>
          <a:bodyPr wrap="none" lIns="0" rIns="0" tIns="0" bIns="0" anchor="t">
            <a:spAutoFit/>
          </a:bodyPr>
          <a:lstStyle/>
          <a:p>
            <a:pPr algn="l">
              <a:lnSpc>
                <a:spcPct val="118000"/>
              </a:lnSpc>
              <a:spcBef>
                <a:spcPts val="0"/>
              </a:spcBef>
              <a:spcAft>
                <a:spcPts val="0"/>
              </a:spcAft>
            </a:pPr>
            <a:r>
              <a:rPr sz="1350" i="0" b="0">
                <a:solidFill>
                  <a:srgbClr val="5C6D63"/>
                </a:solidFill>
                <a:latin typeface="DM Sans"/>
              </a:rPr>
              <a:t>Headings and quotations</a:t>
            </a:r>
          </a:p>
        </p:txBody>
      </p:sp>
      <p:sp>
        <p:nvSpPr>
          <p:cNvPr id="12" name="TextBox 11"/>
          <p:cNvSpPr txBox="1"/>
          <p:nvPr/>
        </p:nvSpPr>
        <p:spPr>
          <a:xfrm>
            <a:off x="3162300" y="4305300"/>
            <a:ext cx="2133600" cy="336423"/>
          </a:xfrm>
          <a:prstGeom prst="rect">
            <a:avLst/>
          </a:prstGeom>
          <a:noFill/>
          <a:effectLst/>
        </p:spPr>
        <p:txBody>
          <a:bodyPr wrap="none" lIns="0" rIns="0" tIns="0" bIns="0" anchor="t">
            <a:spAutoFit/>
          </a:bodyPr>
          <a:lstStyle/>
          <a:p>
            <a:pPr algn="l">
              <a:lnSpc>
                <a:spcPct val="118000"/>
              </a:lnSpc>
              <a:spcBef>
                <a:spcPts val="0"/>
              </a:spcBef>
              <a:spcAft>
                <a:spcPts val="0"/>
              </a:spcAft>
            </a:pPr>
            <a:r>
              <a:rPr sz="1800" i="0" b="0">
                <a:solidFill>
                  <a:srgbClr val="1D3027"/>
                </a:solidFill>
                <a:latin typeface="DM Sans"/>
              </a:rPr>
              <a:t>DM Sans</a:t>
            </a:r>
          </a:p>
        </p:txBody>
      </p:sp>
      <p:sp>
        <p:nvSpPr>
          <p:cNvPr id="13" name="TextBox 12"/>
          <p:cNvSpPr txBox="1"/>
          <p:nvPr/>
        </p:nvSpPr>
        <p:spPr>
          <a:xfrm>
            <a:off x="3162300" y="4676775"/>
            <a:ext cx="2390775" cy="268985"/>
          </a:xfrm>
          <a:prstGeom prst="rect">
            <a:avLst/>
          </a:prstGeom>
          <a:noFill/>
          <a:effectLst/>
        </p:spPr>
        <p:txBody>
          <a:bodyPr wrap="none" lIns="0" rIns="0" tIns="0" bIns="0" anchor="t">
            <a:spAutoFit/>
          </a:bodyPr>
          <a:lstStyle/>
          <a:p>
            <a:pPr algn="l">
              <a:lnSpc>
                <a:spcPct val="118000"/>
              </a:lnSpc>
              <a:spcBef>
                <a:spcPts val="0"/>
              </a:spcBef>
              <a:spcAft>
                <a:spcPts val="0"/>
              </a:spcAft>
            </a:pPr>
            <a:r>
              <a:rPr sz="1350" i="0" b="0">
                <a:solidFill>
                  <a:srgbClr val="5C6D63"/>
                </a:solidFill>
                <a:latin typeface="DM Sans"/>
              </a:rPr>
              <a:t>Controls and body text</a:t>
            </a:r>
          </a:p>
        </p:txBody>
      </p:sp>
      <p:sp>
        <p:nvSpPr>
          <p:cNvPr id="14" name="Rounded Rectangle 13"/>
          <p:cNvSpPr/>
          <p:nvPr/>
        </p:nvSpPr>
        <p:spPr>
          <a:xfrm>
            <a:off x="6886575" y="1495425"/>
            <a:ext cx="1038225" cy="971550"/>
          </a:xfrm>
          <a:prstGeom prst="roundRect">
            <a:avLst>
              <a:gd name="adj" fmla="val 11764"/>
            </a:avLst>
          </a:prstGeom>
          <a:solidFill>
            <a:srgbClr val="1D3027"/>
          </a:solidFill>
          <a:ln>
            <a:noFill/>
          </a:ln>
          <a:effectLst/>
        </p:spPr>
        <p:txBody>
          <a:bodyPr rtlCol="0" anchor="ctr"/>
          <a:lstStyle/>
          <a:p>
            <a:pPr algn="ctr"/>
          </a:p>
        </p:txBody>
      </p:sp>
      <p:sp>
        <p:nvSpPr>
          <p:cNvPr id="15" name="TextBox 14"/>
          <p:cNvSpPr txBox="1"/>
          <p:nvPr/>
        </p:nvSpPr>
        <p:spPr>
          <a:xfrm>
            <a:off x="6886575" y="2667000"/>
            <a:ext cx="103822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1D3027"/>
                </a:solidFill>
                <a:latin typeface="DM Sans"/>
              </a:rPr>
              <a:t>Ink</a:t>
            </a:r>
          </a:p>
        </p:txBody>
      </p:sp>
      <p:sp>
        <p:nvSpPr>
          <p:cNvPr id="16" name="TextBox 15"/>
          <p:cNvSpPr txBox="1"/>
          <p:nvPr/>
        </p:nvSpPr>
        <p:spPr>
          <a:xfrm>
            <a:off x="6886575" y="2990850"/>
            <a:ext cx="1038225" cy="224028"/>
          </a:xfrm>
          <a:prstGeom prst="rect">
            <a:avLst/>
          </a:prstGeom>
          <a:noFill/>
          <a:effectLst/>
        </p:spPr>
        <p:txBody>
          <a:bodyPr wrap="none" lIns="0" rIns="0" tIns="0" bIns="0" anchor="t">
            <a:spAutoFit/>
          </a:bodyPr>
          <a:lstStyle/>
          <a:p>
            <a:pPr algn="l">
              <a:lnSpc>
                <a:spcPct val="118000"/>
              </a:lnSpc>
              <a:spcBef>
                <a:spcPts val="0"/>
              </a:spcBef>
              <a:spcAft>
                <a:spcPts val="0"/>
              </a:spcAft>
            </a:pPr>
            <a:r>
              <a:rPr sz="1050" i="0" b="0">
                <a:solidFill>
                  <a:srgbClr val="5C6D63"/>
                </a:solidFill>
                <a:latin typeface="DM Sans"/>
              </a:rPr>
              <a:t>#1d3027</a:t>
            </a:r>
          </a:p>
        </p:txBody>
      </p:sp>
      <p:sp>
        <p:nvSpPr>
          <p:cNvPr id="17" name="Rounded Rectangle 16"/>
          <p:cNvSpPr/>
          <p:nvPr/>
        </p:nvSpPr>
        <p:spPr>
          <a:xfrm>
            <a:off x="8105775" y="1495425"/>
            <a:ext cx="1038225" cy="971550"/>
          </a:xfrm>
          <a:prstGeom prst="roundRect">
            <a:avLst>
              <a:gd name="adj" fmla="val 11764"/>
            </a:avLst>
          </a:prstGeom>
          <a:solidFill>
            <a:srgbClr val="245C48"/>
          </a:solidFill>
          <a:ln>
            <a:noFill/>
          </a:ln>
          <a:effectLst/>
        </p:spPr>
        <p:txBody>
          <a:bodyPr rtlCol="0" anchor="ctr"/>
          <a:lstStyle/>
          <a:p>
            <a:pPr algn="ctr"/>
          </a:p>
        </p:txBody>
      </p:sp>
      <p:sp>
        <p:nvSpPr>
          <p:cNvPr id="18" name="TextBox 17"/>
          <p:cNvSpPr txBox="1"/>
          <p:nvPr/>
        </p:nvSpPr>
        <p:spPr>
          <a:xfrm>
            <a:off x="8105775" y="2667000"/>
            <a:ext cx="103822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1D3027"/>
                </a:solidFill>
                <a:latin typeface="DM Sans"/>
              </a:rPr>
              <a:t>Forest</a:t>
            </a:r>
          </a:p>
        </p:txBody>
      </p:sp>
      <p:sp>
        <p:nvSpPr>
          <p:cNvPr id="19" name="TextBox 18"/>
          <p:cNvSpPr txBox="1"/>
          <p:nvPr/>
        </p:nvSpPr>
        <p:spPr>
          <a:xfrm>
            <a:off x="8105775" y="2990850"/>
            <a:ext cx="1038225" cy="224028"/>
          </a:xfrm>
          <a:prstGeom prst="rect">
            <a:avLst/>
          </a:prstGeom>
          <a:noFill/>
          <a:effectLst/>
        </p:spPr>
        <p:txBody>
          <a:bodyPr wrap="none" lIns="0" rIns="0" tIns="0" bIns="0" anchor="t">
            <a:spAutoFit/>
          </a:bodyPr>
          <a:lstStyle/>
          <a:p>
            <a:pPr algn="l">
              <a:lnSpc>
                <a:spcPct val="118000"/>
              </a:lnSpc>
              <a:spcBef>
                <a:spcPts val="0"/>
              </a:spcBef>
              <a:spcAft>
                <a:spcPts val="0"/>
              </a:spcAft>
            </a:pPr>
            <a:r>
              <a:rPr sz="1050" i="0" b="0">
                <a:solidFill>
                  <a:srgbClr val="5C6D63"/>
                </a:solidFill>
                <a:latin typeface="DM Sans"/>
              </a:rPr>
              <a:t>#245c48</a:t>
            </a:r>
          </a:p>
        </p:txBody>
      </p:sp>
      <p:sp>
        <p:nvSpPr>
          <p:cNvPr id="20" name="Rounded Rectangle 19"/>
          <p:cNvSpPr/>
          <p:nvPr/>
        </p:nvSpPr>
        <p:spPr>
          <a:xfrm>
            <a:off x="9324975" y="1495425"/>
            <a:ext cx="1038225" cy="971550"/>
          </a:xfrm>
          <a:prstGeom prst="roundRect">
            <a:avLst>
              <a:gd name="adj" fmla="val 11764"/>
            </a:avLst>
          </a:prstGeom>
          <a:solidFill>
            <a:srgbClr val="E7EFE9"/>
          </a:solidFill>
          <a:ln>
            <a:noFill/>
          </a:ln>
          <a:effectLst/>
        </p:spPr>
        <p:txBody>
          <a:bodyPr rtlCol="0" anchor="ctr"/>
          <a:lstStyle/>
          <a:p>
            <a:pPr algn="ctr"/>
          </a:p>
        </p:txBody>
      </p:sp>
      <p:sp>
        <p:nvSpPr>
          <p:cNvPr id="21" name="TextBox 20"/>
          <p:cNvSpPr txBox="1"/>
          <p:nvPr/>
        </p:nvSpPr>
        <p:spPr>
          <a:xfrm>
            <a:off x="9324975" y="2667000"/>
            <a:ext cx="103822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1D3027"/>
                </a:solidFill>
                <a:latin typeface="DM Sans"/>
              </a:rPr>
              <a:t>Sage</a:t>
            </a:r>
          </a:p>
        </p:txBody>
      </p:sp>
      <p:sp>
        <p:nvSpPr>
          <p:cNvPr id="22" name="TextBox 21"/>
          <p:cNvSpPr txBox="1"/>
          <p:nvPr/>
        </p:nvSpPr>
        <p:spPr>
          <a:xfrm>
            <a:off x="9324975" y="2990850"/>
            <a:ext cx="1038225" cy="224028"/>
          </a:xfrm>
          <a:prstGeom prst="rect">
            <a:avLst/>
          </a:prstGeom>
          <a:noFill/>
          <a:effectLst/>
        </p:spPr>
        <p:txBody>
          <a:bodyPr wrap="none" lIns="0" rIns="0" tIns="0" bIns="0" anchor="t">
            <a:spAutoFit/>
          </a:bodyPr>
          <a:lstStyle/>
          <a:p>
            <a:pPr algn="l">
              <a:lnSpc>
                <a:spcPct val="118000"/>
              </a:lnSpc>
              <a:spcBef>
                <a:spcPts val="0"/>
              </a:spcBef>
              <a:spcAft>
                <a:spcPts val="0"/>
              </a:spcAft>
            </a:pPr>
            <a:r>
              <a:rPr sz="1050" i="0" b="0">
                <a:solidFill>
                  <a:srgbClr val="5C6D63"/>
                </a:solidFill>
                <a:latin typeface="DM Sans"/>
              </a:rPr>
              <a:t>#e7efe9</a:t>
            </a:r>
          </a:p>
        </p:txBody>
      </p:sp>
      <p:sp>
        <p:nvSpPr>
          <p:cNvPr id="23" name="Rounded Rectangle 22"/>
          <p:cNvSpPr/>
          <p:nvPr/>
        </p:nvSpPr>
        <p:spPr>
          <a:xfrm>
            <a:off x="10544175" y="1495425"/>
            <a:ext cx="1038225" cy="971550"/>
          </a:xfrm>
          <a:prstGeom prst="roundRect">
            <a:avLst>
              <a:gd name="adj" fmla="val 11764"/>
            </a:avLst>
          </a:prstGeom>
          <a:solidFill>
            <a:srgbClr val="FAFBF9"/>
          </a:solidFill>
          <a:ln w="9525">
            <a:solidFill>
              <a:srgbClr val="DCE5DF"/>
            </a:solidFill>
          </a:ln>
          <a:effectLst/>
        </p:spPr>
        <p:txBody>
          <a:bodyPr rtlCol="0" anchor="ctr"/>
          <a:lstStyle/>
          <a:p>
            <a:pPr algn="ctr"/>
          </a:p>
        </p:txBody>
      </p:sp>
      <p:sp>
        <p:nvSpPr>
          <p:cNvPr id="24" name="TextBox 23"/>
          <p:cNvSpPr txBox="1"/>
          <p:nvPr/>
        </p:nvSpPr>
        <p:spPr>
          <a:xfrm>
            <a:off x="10544175" y="2667000"/>
            <a:ext cx="1038225" cy="280225"/>
          </a:xfrm>
          <a:prstGeom prst="rect">
            <a:avLst/>
          </a:prstGeom>
          <a:noFill/>
          <a:effectLst/>
        </p:spPr>
        <p:txBody>
          <a:bodyPr wrap="none" lIns="0" rIns="0" tIns="0" bIns="0" anchor="t">
            <a:spAutoFit/>
          </a:bodyPr>
          <a:lstStyle/>
          <a:p>
            <a:pPr algn="l">
              <a:lnSpc>
                <a:spcPct val="118000"/>
              </a:lnSpc>
              <a:spcBef>
                <a:spcPts val="0"/>
              </a:spcBef>
              <a:spcAft>
                <a:spcPts val="0"/>
              </a:spcAft>
            </a:pPr>
            <a:r>
              <a:rPr sz="1425" i="0" b="0">
                <a:solidFill>
                  <a:srgbClr val="1D3027"/>
                </a:solidFill>
                <a:latin typeface="DM Sans"/>
              </a:rPr>
              <a:t>Paper</a:t>
            </a:r>
          </a:p>
        </p:txBody>
      </p:sp>
      <p:sp>
        <p:nvSpPr>
          <p:cNvPr id="25" name="TextBox 24"/>
          <p:cNvSpPr txBox="1"/>
          <p:nvPr/>
        </p:nvSpPr>
        <p:spPr>
          <a:xfrm>
            <a:off x="10544175" y="2990850"/>
            <a:ext cx="1038225" cy="224028"/>
          </a:xfrm>
          <a:prstGeom prst="rect">
            <a:avLst/>
          </a:prstGeom>
          <a:noFill/>
          <a:effectLst/>
        </p:spPr>
        <p:txBody>
          <a:bodyPr wrap="none" lIns="0" rIns="0" tIns="0" bIns="0" anchor="t">
            <a:spAutoFit/>
          </a:bodyPr>
          <a:lstStyle/>
          <a:p>
            <a:pPr algn="l">
              <a:lnSpc>
                <a:spcPct val="118000"/>
              </a:lnSpc>
              <a:spcBef>
                <a:spcPts val="0"/>
              </a:spcBef>
              <a:spcAft>
                <a:spcPts val="0"/>
              </a:spcAft>
            </a:pPr>
            <a:r>
              <a:rPr sz="1050" i="0" b="0">
                <a:solidFill>
                  <a:srgbClr val="5C6D63"/>
                </a:solidFill>
                <a:latin typeface="DM Sans"/>
              </a:rPr>
              <a:t>#fafbf9</a:t>
            </a:r>
          </a:p>
        </p:txBody>
      </p:sp>
      <p:sp>
        <p:nvSpPr>
          <p:cNvPr id="26" name="Rounded Rectangle 25"/>
          <p:cNvSpPr/>
          <p:nvPr/>
        </p:nvSpPr>
        <p:spPr>
          <a:xfrm>
            <a:off x="6886575" y="3705224"/>
            <a:ext cx="4695825" cy="1628775"/>
          </a:xfrm>
          <a:prstGeom prst="roundRect">
            <a:avLst>
              <a:gd name="adj" fmla="val 9356"/>
            </a:avLst>
          </a:prstGeom>
          <a:solidFill>
            <a:srgbClr val="FFFFFF"/>
          </a:solidFill>
          <a:ln w="9525">
            <a:solidFill>
              <a:srgbClr val="DCE5DF"/>
            </a:solidFill>
          </a:ln>
          <a:effectLst/>
        </p:spPr>
        <p:txBody>
          <a:bodyPr rtlCol="0" anchor="ctr"/>
          <a:lstStyle/>
          <a:p>
            <a:pPr algn="ctr"/>
          </a:p>
        </p:txBody>
      </p:sp>
      <p:sp>
        <p:nvSpPr>
          <p:cNvPr id="27" name="TextBox 26"/>
          <p:cNvSpPr txBox="1"/>
          <p:nvPr/>
        </p:nvSpPr>
        <p:spPr>
          <a:xfrm>
            <a:off x="7115175" y="3905249"/>
            <a:ext cx="4238625" cy="685800"/>
          </a:xfrm>
          <a:prstGeom prst="rect">
            <a:avLst/>
          </a:prstGeom>
          <a:noFill/>
          <a:effectLst/>
        </p:spPr>
        <p:txBody>
          <a:bodyPr wrap="none" lIns="0" rIns="0" tIns="0" bIns="0" anchor="t">
            <a:spAutoFit/>
          </a:bodyPr>
          <a:lstStyle/>
          <a:p>
            <a:pPr algn="l">
              <a:lnSpc>
                <a:spcPct val="125000"/>
              </a:lnSpc>
              <a:spcBef>
                <a:spcPts val="0"/>
              </a:spcBef>
              <a:spcAft>
                <a:spcPts val="0"/>
              </a:spcAft>
            </a:pPr>
            <a:r>
              <a:rPr sz="1950" i="0" b="0">
                <a:solidFill>
                  <a:srgbClr val="1D3027"/>
                </a:solidFill>
                <a:latin typeface="Newsreader"/>
              </a:rPr>
              <a:t>Evidence beside the claim.</a:t>
            </a:r>
          </a:p>
          <a:p>
            <a:pPr algn="l">
              <a:lnSpc>
                <a:spcPct val="125000"/>
              </a:lnSpc>
              <a:spcBef>
                <a:spcPts val="0"/>
              </a:spcBef>
              <a:spcAft>
                <a:spcPts val="0"/>
              </a:spcAft>
            </a:pPr>
            <a:r>
              <a:rPr sz="1950" i="0" b="0">
                <a:solidFill>
                  <a:srgbClr val="1D3027"/>
                </a:solidFill>
                <a:latin typeface="Newsreader"/>
              </a:rPr>
              <a:t>Uncertainty stays visible.</a:t>
            </a:r>
          </a:p>
        </p:txBody>
      </p:sp>
      <p:sp>
        <p:nvSpPr>
          <p:cNvPr id="28" name="Rounded Rectangle 27"/>
          <p:cNvSpPr/>
          <p:nvPr/>
        </p:nvSpPr>
        <p:spPr>
          <a:xfrm>
            <a:off x="7115175" y="4743450"/>
            <a:ext cx="1924049" cy="342900"/>
          </a:xfrm>
          <a:prstGeom prst="roundRect">
            <a:avLst>
              <a:gd name="adj" fmla="val 22222"/>
            </a:avLst>
          </a:prstGeom>
          <a:solidFill>
            <a:srgbClr val="E7EFE9"/>
          </a:solidFill>
          <a:ln>
            <a:noFill/>
          </a:ln>
          <a:effectLst/>
        </p:spPr>
        <p:txBody>
          <a:bodyPr rtlCol="0" anchor="ctr"/>
          <a:lstStyle/>
          <a:p>
            <a:pPr algn="ctr"/>
          </a:p>
        </p:txBody>
      </p:sp>
      <p:sp>
        <p:nvSpPr>
          <p:cNvPr id="29" name="TextBox 28"/>
          <p:cNvSpPr txBox="1"/>
          <p:nvPr/>
        </p:nvSpPr>
        <p:spPr>
          <a:xfrm>
            <a:off x="7191375" y="4819650"/>
            <a:ext cx="1771650" cy="257746"/>
          </a:xfrm>
          <a:prstGeom prst="rect">
            <a:avLst/>
          </a:prstGeom>
          <a:noFill/>
          <a:effectLst/>
        </p:spPr>
        <p:txBody>
          <a:bodyPr wrap="none" lIns="0" rIns="0" tIns="0" bIns="0" anchor="t">
            <a:spAutoFit/>
          </a:bodyPr>
          <a:lstStyle/>
          <a:p>
            <a:pPr algn="ctr">
              <a:lnSpc>
                <a:spcPct val="118000"/>
              </a:lnSpc>
              <a:spcBef>
                <a:spcPts val="0"/>
              </a:spcBef>
              <a:spcAft>
                <a:spcPts val="0"/>
              </a:spcAft>
            </a:pPr>
            <a:r>
              <a:rPr sz="1275" i="0" b="0">
                <a:solidFill>
                  <a:srgbClr val="245C48"/>
                </a:solidFill>
                <a:latin typeface="DM Sans"/>
              </a:rPr>
              <a:t>Source passage</a:t>
            </a:r>
          </a:p>
        </p:txBody>
      </p:sp>
      <p:sp>
        <p:nvSpPr>
          <p:cNvPr id="30" name="Rounded Rectangle 29"/>
          <p:cNvSpPr/>
          <p:nvPr/>
        </p:nvSpPr>
        <p:spPr>
          <a:xfrm>
            <a:off x="9248775" y="4743450"/>
            <a:ext cx="2095499" cy="342900"/>
          </a:xfrm>
          <a:prstGeom prst="roundRect">
            <a:avLst>
              <a:gd name="adj" fmla="val 22222"/>
            </a:avLst>
          </a:prstGeom>
          <a:solidFill>
            <a:srgbClr val="F3F7F4"/>
          </a:solidFill>
          <a:ln w="9525">
            <a:solidFill>
              <a:srgbClr val="DCE5DF"/>
            </a:solidFill>
          </a:ln>
          <a:effectLst/>
        </p:spPr>
        <p:txBody>
          <a:bodyPr rtlCol="0" anchor="ctr"/>
          <a:lstStyle/>
          <a:p>
            <a:pPr algn="ctr"/>
          </a:p>
        </p:txBody>
      </p:sp>
      <p:sp>
        <p:nvSpPr>
          <p:cNvPr id="31" name="TextBox 30"/>
          <p:cNvSpPr txBox="1"/>
          <p:nvPr/>
        </p:nvSpPr>
        <p:spPr>
          <a:xfrm>
            <a:off x="9324975" y="4819650"/>
            <a:ext cx="1943100" cy="257746"/>
          </a:xfrm>
          <a:prstGeom prst="rect">
            <a:avLst/>
          </a:prstGeom>
          <a:noFill/>
          <a:effectLst/>
        </p:spPr>
        <p:txBody>
          <a:bodyPr wrap="none" lIns="0" rIns="0" tIns="0" bIns="0" anchor="t">
            <a:spAutoFit/>
          </a:bodyPr>
          <a:lstStyle/>
          <a:p>
            <a:pPr algn="ctr">
              <a:lnSpc>
                <a:spcPct val="118000"/>
              </a:lnSpc>
              <a:spcBef>
                <a:spcPts val="0"/>
              </a:spcBef>
              <a:spcAft>
                <a:spcPts val="0"/>
              </a:spcAft>
            </a:pPr>
            <a:r>
              <a:rPr sz="1275" i="0" b="0">
                <a:solidFill>
                  <a:srgbClr val="5C6D63"/>
                </a:solidFill>
                <a:latin typeface="DM Sans"/>
              </a:rPr>
              <a:t>Unverified</a:t>
            </a:r>
          </a:p>
        </p:txBody>
      </p:sp>
      <p:sp>
        <p:nvSpPr>
          <p:cNvPr id="32" name="TextBox 31"/>
          <p:cNvSpPr txBox="1"/>
          <p:nvPr/>
        </p:nvSpPr>
        <p:spPr>
          <a:xfrm>
            <a:off x="609600" y="5724525"/>
            <a:ext cx="10972800" cy="403860"/>
          </a:xfrm>
          <a:prstGeom prst="rect">
            <a:avLst/>
          </a:prstGeom>
          <a:noFill/>
          <a:effectLst/>
        </p:spPr>
        <p:txBody>
          <a:bodyPr wrap="none" lIns="0" rIns="0" tIns="0" bIns="0" anchor="t">
            <a:spAutoFit/>
          </a:bodyPr>
          <a:lstStyle/>
          <a:p>
            <a:pPr algn="l">
              <a:lnSpc>
                <a:spcPct val="118000"/>
              </a:lnSpc>
              <a:spcBef>
                <a:spcPts val="0"/>
              </a:spcBef>
              <a:spcAft>
                <a:spcPts val="0"/>
              </a:spcAft>
            </a:pPr>
            <a:r>
              <a:rPr sz="2250" i="0" b="0">
                <a:solidFill>
                  <a:srgbClr val="245C48"/>
                </a:solidFill>
                <a:latin typeface="Newsreader"/>
              </a:rPr>
              <a:t>Proof. Check the research before you rely on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 | Hackathon pitch | First draft</dc:title>
  <dc:subject>AI-assisted research verification for students and professionals</dc:subject>
  <dc:creator>Proof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